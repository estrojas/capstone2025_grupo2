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8288000" cy="10287000"/>
  <p:notesSz cx="6858000" cy="9144000"/>
  <p:embeddedFontLst>
    <p:embeddedFont>
      <p:font typeface="Open Sauce Bold" charset="1" panose="00000800000000000000"/>
      <p:regular r:id="rId53"/>
    </p:embeddedFont>
    <p:embeddedFont>
      <p:font typeface="Open Sauce" charset="1" panose="00000500000000000000"/>
      <p:regular r:id="rId54"/>
    </p:embeddedFont>
    <p:embeddedFont>
      <p:font typeface="Open Sans" charset="1" panose="020B0606030504020204"/>
      <p:regular r:id="rId55"/>
    </p:embeddedFont>
    <p:embeddedFont>
      <p:font typeface="Open Sans Bold" charset="1" panose="020B0806030504020204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2" Target="../media/image2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71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7763798"/>
            <a:ext cx="16230600" cy="0"/>
          </a:xfrm>
          <a:prstGeom prst="line">
            <a:avLst/>
          </a:prstGeom>
          <a:ln cap="flat" w="38100">
            <a:solidFill>
              <a:srgbClr val="3CAD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410716" y="8881717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652254" y="209550"/>
            <a:ext cx="12983493" cy="387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68"/>
              </a:lnSpc>
            </a:pPr>
            <a:r>
              <a:rPr lang="en-US" b="true" sz="1435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Admission Analytics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8338" y="8436624"/>
            <a:ext cx="1583672" cy="34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42010" y="8436624"/>
            <a:ext cx="3751079" cy="105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Esteban Rojas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David Rubio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Antonio Vega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0315" y="8436624"/>
            <a:ext cx="4190863" cy="34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Profesor:     Mauricio Figueroa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326652" cy="754386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351905" cy="1345845"/>
            <a:chOff x="0" y="0"/>
            <a:chExt cx="4570049" cy="354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70049" cy="354461"/>
            </a:xfrm>
            <a:custGeom>
              <a:avLst/>
              <a:gdLst/>
              <a:ahLst/>
              <a:cxnLst/>
              <a:rect r="r" b="b" t="t" l="l"/>
              <a:pathLst>
                <a:path h="354461" w="4570049">
                  <a:moveTo>
                    <a:pt x="7139" y="0"/>
                  </a:moveTo>
                  <a:lnTo>
                    <a:pt x="4562911" y="0"/>
                  </a:lnTo>
                  <a:cubicBezTo>
                    <a:pt x="4564804" y="0"/>
                    <a:pt x="4566620" y="752"/>
                    <a:pt x="4567958" y="2091"/>
                  </a:cubicBezTo>
                  <a:cubicBezTo>
                    <a:pt x="4569297" y="3430"/>
                    <a:pt x="4570049" y="5245"/>
                    <a:pt x="4570049" y="7139"/>
                  </a:cubicBezTo>
                  <a:lnTo>
                    <a:pt x="4570049" y="347323"/>
                  </a:lnTo>
                  <a:cubicBezTo>
                    <a:pt x="4570049" y="349216"/>
                    <a:pt x="4569297" y="351032"/>
                    <a:pt x="4567958" y="352370"/>
                  </a:cubicBezTo>
                  <a:cubicBezTo>
                    <a:pt x="4566620" y="353709"/>
                    <a:pt x="4564804" y="354461"/>
                    <a:pt x="4562911" y="354461"/>
                  </a:cubicBezTo>
                  <a:lnTo>
                    <a:pt x="7139" y="354461"/>
                  </a:lnTo>
                  <a:cubicBezTo>
                    <a:pt x="5245" y="354461"/>
                    <a:pt x="3430" y="353709"/>
                    <a:pt x="2091" y="352370"/>
                  </a:cubicBezTo>
                  <a:cubicBezTo>
                    <a:pt x="752" y="351032"/>
                    <a:pt x="0" y="349216"/>
                    <a:pt x="0" y="347323"/>
                  </a:cubicBezTo>
                  <a:lnTo>
                    <a:pt x="0" y="7139"/>
                  </a:lnTo>
                  <a:cubicBezTo>
                    <a:pt x="0" y="5245"/>
                    <a:pt x="752" y="3430"/>
                    <a:pt x="2091" y="2091"/>
                  </a:cubicBezTo>
                  <a:cubicBezTo>
                    <a:pt x="3430" y="752"/>
                    <a:pt x="5245" y="0"/>
                    <a:pt x="71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70049" cy="40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48030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6" id="6"/>
          <p:cNvSpPr/>
          <p:nvPr/>
        </p:nvSpPr>
        <p:spPr>
          <a:xfrm flipV="true">
            <a:off x="11892302" y="3922595"/>
            <a:ext cx="319544" cy="2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56579" y="2219537"/>
            <a:ext cx="5310991" cy="7415346"/>
          </a:xfrm>
          <a:custGeom>
            <a:avLst/>
            <a:gdLst/>
            <a:ahLst/>
            <a:cxnLst/>
            <a:rect r="r" b="b" t="t" l="l"/>
            <a:pathLst>
              <a:path h="7415346" w="5310991">
                <a:moveTo>
                  <a:pt x="0" y="0"/>
                </a:moveTo>
                <a:lnTo>
                  <a:pt x="5310990" y="0"/>
                </a:lnTo>
                <a:lnTo>
                  <a:pt x="5310990" y="7415346"/>
                </a:lnTo>
                <a:lnTo>
                  <a:pt x="0" y="7415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38242" y="2766495"/>
            <a:ext cx="5154060" cy="5173470"/>
          </a:xfrm>
          <a:custGeom>
            <a:avLst/>
            <a:gdLst/>
            <a:ahLst/>
            <a:cxnLst/>
            <a:rect r="r" b="b" t="t" l="l"/>
            <a:pathLst>
              <a:path h="5173470" w="5154060">
                <a:moveTo>
                  <a:pt x="0" y="0"/>
                </a:moveTo>
                <a:lnTo>
                  <a:pt x="5154060" y="0"/>
                </a:lnTo>
                <a:lnTo>
                  <a:pt x="5154060" y="5173470"/>
                </a:lnTo>
                <a:lnTo>
                  <a:pt x="0" y="5173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47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260523" y="3578070"/>
            <a:ext cx="4765773" cy="3416970"/>
          </a:xfrm>
          <a:custGeom>
            <a:avLst/>
            <a:gdLst/>
            <a:ahLst/>
            <a:cxnLst/>
            <a:rect r="r" b="b" t="t" l="l"/>
            <a:pathLst>
              <a:path h="3416970" w="4765773">
                <a:moveTo>
                  <a:pt x="0" y="0"/>
                </a:moveTo>
                <a:lnTo>
                  <a:pt x="4765773" y="0"/>
                </a:lnTo>
                <a:lnTo>
                  <a:pt x="4765773" y="3416970"/>
                </a:lnTo>
                <a:lnTo>
                  <a:pt x="0" y="3416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63624" y="538263"/>
            <a:ext cx="9160752" cy="103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Tabla de Contenidos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88141" y="1028700"/>
            <a:ext cx="8421447" cy="8934806"/>
            <a:chOff x="0" y="0"/>
            <a:chExt cx="11228596" cy="1191307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8601" t="0" r="18601" b="0"/>
            <a:stretch>
              <a:fillRect/>
            </a:stretch>
          </p:blipFill>
          <p:spPr>
            <a:xfrm flipH="false" flipV="false">
              <a:off x="0" y="0"/>
              <a:ext cx="11228596" cy="11913075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600190" y="446388"/>
            <a:ext cx="17125720" cy="582312"/>
            <a:chOff x="0" y="0"/>
            <a:chExt cx="4510478" cy="153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565141"/>
            <a:ext cx="636951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9072" y="1222579"/>
            <a:ext cx="3789287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4206" y="2687737"/>
            <a:ext cx="6699019" cy="459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Duoc UC es una institución con más de 50 años de historia en la Educación Técnico Profesional, con acreditación institucional máxima por 7 años.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9 escuelas y más de 70 carreras vigentes.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18 sedes en la Región Metropolitana, Valparaíso, Biobío, La Araucanía y Los Lagos.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8881717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57011" y="1133475"/>
            <a:ext cx="3773979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10757"/>
            <a:ext cx="8684050" cy="501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 2017 (20,3%) a 2023 (17,1%) → caída de 3,2 puntos porcentuales en matriculas.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Esto representa aproximadamente una baja del 15,7 % en su participación de matrículas en la región.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Duoc UC muestra una tendencia a la baja sostenida desde 2017 hasta 2023, con una leve recuperación en 2024. En números relativos, perdió más de 3 puntos de participación en el mercado regional de matrículas en menos de 7 años.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410716" y="8881717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15787" y="2057400"/>
            <a:ext cx="6172200" cy="6172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298440" y="7859001"/>
            <a:ext cx="762223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Perdida de matriculas en 7 años para la región de Valparaíso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9263" y="9229725"/>
            <a:ext cx="820292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*Información basada en los datos abiertos del Mineduc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88141" y="1028700"/>
            <a:ext cx="8421447" cy="8934806"/>
            <a:chOff x="0" y="0"/>
            <a:chExt cx="11228596" cy="1191307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4654" t="0" r="14654" b="0"/>
            <a:stretch>
              <a:fillRect/>
            </a:stretch>
          </p:blipFill>
          <p:spPr>
            <a:xfrm flipH="false" flipV="false">
              <a:off x="0" y="0"/>
              <a:ext cx="11228596" cy="11913075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8881717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38225" y="565141"/>
            <a:ext cx="636951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7924" y="1699913"/>
            <a:ext cx="4237202" cy="100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5"/>
              </a:lnSpc>
            </a:pPr>
            <a:r>
              <a:rPr lang="en-US" b="true" sz="592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Necesidad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4893" y="3587113"/>
            <a:ext cx="6403263" cy="333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4423" indent="-257211" lvl="1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23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instituto profesional Duoc UC enfrenta una alta competencia por captar estudiantes.</a:t>
            </a:r>
          </a:p>
          <a:p>
            <a:pPr algn="l">
              <a:lnSpc>
                <a:spcPts val="3335"/>
              </a:lnSpc>
            </a:pPr>
          </a:p>
          <a:p>
            <a:pPr algn="just" marL="514423" indent="-257211" lvl="1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 este escenario, el área de admisión requiere información confiable y actualizada que le permita diseñar estrategias efectivas de captación.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86695" y="8881717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5" y="0"/>
                </a:lnTo>
                <a:lnTo>
                  <a:pt x="3385015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703167" y="2515282"/>
            <a:ext cx="4876036" cy="5256436"/>
          </a:xfrm>
          <a:custGeom>
            <a:avLst/>
            <a:gdLst/>
            <a:ahLst/>
            <a:cxnLst/>
            <a:rect r="r" b="b" t="t" l="l"/>
            <a:pathLst>
              <a:path h="5256436" w="4876036">
                <a:moveTo>
                  <a:pt x="0" y="0"/>
                </a:moveTo>
                <a:lnTo>
                  <a:pt x="4876036" y="0"/>
                </a:lnTo>
                <a:lnTo>
                  <a:pt x="4876036" y="5256436"/>
                </a:lnTo>
                <a:lnTo>
                  <a:pt x="0" y="525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7568" y="1282065"/>
            <a:ext cx="7994369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6582" y="2296207"/>
            <a:ext cx="6676342" cy="72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0"/>
              </a:lnSpc>
            </a:pPr>
            <a:r>
              <a:rPr lang="en-US" b="true" sz="2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PLATAFORMA WEB QUE CUENTE CON:</a:t>
            </a:r>
          </a:p>
          <a:p>
            <a:pPr algn="just" marL="518162" indent="-259081" lvl="1">
              <a:lnSpc>
                <a:spcPts val="51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INTEGRACIÓN DE DATOS: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Unific</a:t>
            </a: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ación y procesamiento de información abierta del Mineduc en un repositorio central.</a:t>
            </a:r>
          </a:p>
          <a:p>
            <a:pPr algn="just">
              <a:lnSpc>
                <a:spcPts val="3360"/>
              </a:lnSpc>
            </a:pPr>
          </a:p>
          <a:p>
            <a:pPr algn="just" marL="518162" indent="-259081" lvl="1">
              <a:lnSpc>
                <a:spcPts val="51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INFORMACIÓN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Limpiez</a:t>
            </a: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a, transformación y almacenamiento en un Data Warehouse accesible y confiable.</a:t>
            </a:r>
          </a:p>
          <a:p>
            <a:pPr algn="just">
              <a:lnSpc>
                <a:spcPts val="3360"/>
              </a:lnSpc>
            </a:pPr>
          </a:p>
          <a:p>
            <a:pPr algn="just" marL="518162" indent="-259081" lvl="1">
              <a:lnSpc>
                <a:spcPts val="51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ANÁLISIS ESTRATÉGICO 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Dashb</a:t>
            </a: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oards interactivos con indicadores clave que apoyan decisiones de admisión y captación.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33204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5" y="0"/>
                </a:lnTo>
                <a:lnTo>
                  <a:pt x="3385015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78281" y="1945006"/>
            <a:ext cx="17339938" cy="7109375"/>
          </a:xfrm>
          <a:custGeom>
            <a:avLst/>
            <a:gdLst/>
            <a:ahLst/>
            <a:cxnLst/>
            <a:rect r="r" b="b" t="t" l="l"/>
            <a:pathLst>
              <a:path h="7109375" w="17339938">
                <a:moveTo>
                  <a:pt x="0" y="0"/>
                </a:moveTo>
                <a:lnTo>
                  <a:pt x="17339938" y="0"/>
                </a:lnTo>
                <a:lnTo>
                  <a:pt x="17339938" y="7109374"/>
                </a:lnTo>
                <a:lnTo>
                  <a:pt x="0" y="7109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77579" y="1143000"/>
            <a:ext cx="9332841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de Usuario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312085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78409" y="9490858"/>
            <a:ext cx="2339810" cy="520608"/>
          </a:xfrm>
          <a:custGeom>
            <a:avLst/>
            <a:gdLst/>
            <a:ahLst/>
            <a:cxnLst/>
            <a:rect r="r" b="b" t="t" l="l"/>
            <a:pathLst>
              <a:path h="520608" w="2339810">
                <a:moveTo>
                  <a:pt x="0" y="0"/>
                </a:moveTo>
                <a:lnTo>
                  <a:pt x="2339810" y="0"/>
                </a:lnTo>
                <a:lnTo>
                  <a:pt x="2339810" y="520608"/>
                </a:lnTo>
                <a:lnTo>
                  <a:pt x="0" y="52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81140" y="1764748"/>
            <a:ext cx="17125720" cy="7663760"/>
          </a:xfrm>
          <a:custGeom>
            <a:avLst/>
            <a:gdLst/>
            <a:ahLst/>
            <a:cxnLst/>
            <a:rect r="r" b="b" t="t" l="l"/>
            <a:pathLst>
              <a:path h="7663760" w="17125720">
                <a:moveTo>
                  <a:pt x="0" y="0"/>
                </a:moveTo>
                <a:lnTo>
                  <a:pt x="17125720" y="0"/>
                </a:lnTo>
                <a:lnTo>
                  <a:pt x="17125720" y="7663760"/>
                </a:lnTo>
                <a:lnTo>
                  <a:pt x="0" y="766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30839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77579" y="962742"/>
            <a:ext cx="9332841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 Backlog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203837" y="1935436"/>
            <a:ext cx="11699148" cy="7322864"/>
          </a:xfrm>
          <a:custGeom>
            <a:avLst/>
            <a:gdLst/>
            <a:ahLst/>
            <a:cxnLst/>
            <a:rect r="r" b="b" t="t" l="l"/>
            <a:pathLst>
              <a:path h="7322864" w="11699148">
                <a:moveTo>
                  <a:pt x="0" y="0"/>
                </a:moveTo>
                <a:lnTo>
                  <a:pt x="11699147" y="0"/>
                </a:lnTo>
                <a:lnTo>
                  <a:pt x="11699147" y="7322864"/>
                </a:lnTo>
                <a:lnTo>
                  <a:pt x="0" y="7322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46815" y="1133475"/>
            <a:ext cx="7994369" cy="80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0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261995" y="1489093"/>
            <a:ext cx="10932509" cy="8018588"/>
          </a:xfrm>
          <a:custGeom>
            <a:avLst/>
            <a:gdLst/>
            <a:ahLst/>
            <a:cxnLst/>
            <a:rect r="r" b="b" t="t" l="l"/>
            <a:pathLst>
              <a:path h="8018588" w="10932509">
                <a:moveTo>
                  <a:pt x="0" y="0"/>
                </a:moveTo>
                <a:lnTo>
                  <a:pt x="10932509" y="0"/>
                </a:lnTo>
                <a:lnTo>
                  <a:pt x="10932509" y="8018588"/>
                </a:lnTo>
                <a:lnTo>
                  <a:pt x="0" y="801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16" r="0" b="-61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8754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687087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988096"/>
            <a:ext cx="4158114" cy="35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272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Constelación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55305" y="2513937"/>
            <a:ext cx="10371556" cy="5839186"/>
          </a:xfrm>
          <a:custGeom>
            <a:avLst/>
            <a:gdLst/>
            <a:ahLst/>
            <a:cxnLst/>
            <a:rect r="r" b="b" t="t" l="l"/>
            <a:pathLst>
              <a:path h="5839186" w="10371556">
                <a:moveTo>
                  <a:pt x="0" y="0"/>
                </a:moveTo>
                <a:lnTo>
                  <a:pt x="10371556" y="0"/>
                </a:lnTo>
                <a:lnTo>
                  <a:pt x="10371556" y="5839186"/>
                </a:lnTo>
                <a:lnTo>
                  <a:pt x="0" y="583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10716" y="8881717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579469" y="1133475"/>
            <a:ext cx="11129061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Metodología escogida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834" y="2447262"/>
            <a:ext cx="6676342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Permite avances iterativos e incrementales, ajustando el proyecto según el progreso.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Favorece la g</a:t>
            </a: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estión del tiempo en un contexto con plazos limitados.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acilita la entrega de valor temprano, mostrando prototipos funcionales rápidamente.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Refuerza el trabajo colaborativo, esencial en proyectos en equipo.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08481" y="9713089"/>
            <a:ext cx="2298379" cy="511389"/>
          </a:xfrm>
          <a:custGeom>
            <a:avLst/>
            <a:gdLst/>
            <a:ahLst/>
            <a:cxnLst/>
            <a:rect r="r" b="b" t="t" l="l"/>
            <a:pathLst>
              <a:path h="511389" w="2298379">
                <a:moveTo>
                  <a:pt x="0" y="0"/>
                </a:moveTo>
                <a:lnTo>
                  <a:pt x="2298379" y="0"/>
                </a:lnTo>
                <a:lnTo>
                  <a:pt x="2298379" y="511390"/>
                </a:lnTo>
                <a:lnTo>
                  <a:pt x="0" y="51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04737" y="1905239"/>
            <a:ext cx="16678160" cy="7776192"/>
          </a:xfrm>
          <a:custGeom>
            <a:avLst/>
            <a:gdLst/>
            <a:ahLst/>
            <a:cxnLst/>
            <a:rect r="r" b="b" t="t" l="l"/>
            <a:pathLst>
              <a:path h="7776192" w="16678160">
                <a:moveTo>
                  <a:pt x="0" y="0"/>
                </a:moveTo>
                <a:lnTo>
                  <a:pt x="16678160" y="0"/>
                </a:lnTo>
                <a:lnTo>
                  <a:pt x="16678160" y="7776192"/>
                </a:lnTo>
                <a:lnTo>
                  <a:pt x="0" y="7776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70794" y="876494"/>
            <a:ext cx="3989313" cy="102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10716" y="8881717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382610" y="3286089"/>
            <a:ext cx="13522779" cy="4108186"/>
          </a:xfrm>
          <a:custGeom>
            <a:avLst/>
            <a:gdLst/>
            <a:ahLst/>
            <a:cxnLst/>
            <a:rect r="r" b="b" t="t" l="l"/>
            <a:pathLst>
              <a:path h="4108186" w="13522779">
                <a:moveTo>
                  <a:pt x="0" y="0"/>
                </a:moveTo>
                <a:lnTo>
                  <a:pt x="13522780" y="0"/>
                </a:lnTo>
                <a:lnTo>
                  <a:pt x="13522780" y="4108186"/>
                </a:lnTo>
                <a:lnTo>
                  <a:pt x="0" y="4108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46815" y="1543777"/>
            <a:ext cx="7994369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1271" y="3481663"/>
            <a:ext cx="13645457" cy="166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b="true" sz="124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Iteración Sprint 0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15051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868784" y="6363364"/>
            <a:ext cx="3996346" cy="2637589"/>
            <a:chOff x="0" y="0"/>
            <a:chExt cx="635000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7837" y="0"/>
                  </a:moveTo>
                  <a:lnTo>
                    <a:pt x="597163" y="0"/>
                  </a:lnTo>
                  <a:cubicBezTo>
                    <a:pt x="607198" y="0"/>
                    <a:pt x="616822" y="3986"/>
                    <a:pt x="623918" y="11082"/>
                  </a:cubicBezTo>
                  <a:cubicBezTo>
                    <a:pt x="631014" y="18178"/>
                    <a:pt x="635000" y="27802"/>
                    <a:pt x="635000" y="37837"/>
                  </a:cubicBezTo>
                  <a:lnTo>
                    <a:pt x="635000" y="381263"/>
                  </a:lnTo>
                  <a:cubicBezTo>
                    <a:pt x="635000" y="391298"/>
                    <a:pt x="631014" y="400922"/>
                    <a:pt x="623918" y="408018"/>
                  </a:cubicBezTo>
                  <a:cubicBezTo>
                    <a:pt x="616822" y="415114"/>
                    <a:pt x="607198" y="419100"/>
                    <a:pt x="597163" y="419100"/>
                  </a:cubicBezTo>
                  <a:lnTo>
                    <a:pt x="37837" y="419100"/>
                  </a:lnTo>
                  <a:cubicBezTo>
                    <a:pt x="27802" y="419100"/>
                    <a:pt x="18178" y="415114"/>
                    <a:pt x="11082" y="408018"/>
                  </a:cubicBezTo>
                  <a:cubicBezTo>
                    <a:pt x="3986" y="400922"/>
                    <a:pt x="0" y="391298"/>
                    <a:pt x="0" y="381263"/>
                  </a:cubicBezTo>
                  <a:lnTo>
                    <a:pt x="0" y="37837"/>
                  </a:lnTo>
                  <a:cubicBezTo>
                    <a:pt x="0" y="27802"/>
                    <a:pt x="3986" y="18178"/>
                    <a:pt x="11082" y="11082"/>
                  </a:cubicBezTo>
                  <a:cubicBezTo>
                    <a:pt x="18178" y="3986"/>
                    <a:pt x="27802" y="0"/>
                    <a:pt x="37837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PREPARACIÓN PROYECTO EN GOOGLE CLOUD PLATAFORM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81951" y="6363364"/>
            <a:ext cx="3996346" cy="2637589"/>
            <a:chOff x="0" y="0"/>
            <a:chExt cx="635000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7837" y="0"/>
                  </a:moveTo>
                  <a:lnTo>
                    <a:pt x="597163" y="0"/>
                  </a:lnTo>
                  <a:cubicBezTo>
                    <a:pt x="607198" y="0"/>
                    <a:pt x="616822" y="3986"/>
                    <a:pt x="623918" y="11082"/>
                  </a:cubicBezTo>
                  <a:cubicBezTo>
                    <a:pt x="631014" y="18178"/>
                    <a:pt x="635000" y="27802"/>
                    <a:pt x="635000" y="37837"/>
                  </a:cubicBezTo>
                  <a:lnTo>
                    <a:pt x="635000" y="381263"/>
                  </a:lnTo>
                  <a:cubicBezTo>
                    <a:pt x="635000" y="391298"/>
                    <a:pt x="631014" y="400922"/>
                    <a:pt x="623918" y="408018"/>
                  </a:cubicBezTo>
                  <a:cubicBezTo>
                    <a:pt x="616822" y="415114"/>
                    <a:pt x="607198" y="419100"/>
                    <a:pt x="597163" y="419100"/>
                  </a:cubicBezTo>
                  <a:lnTo>
                    <a:pt x="37837" y="419100"/>
                  </a:lnTo>
                  <a:cubicBezTo>
                    <a:pt x="27802" y="419100"/>
                    <a:pt x="18178" y="415114"/>
                    <a:pt x="11082" y="408018"/>
                  </a:cubicBezTo>
                  <a:cubicBezTo>
                    <a:pt x="3986" y="400922"/>
                    <a:pt x="0" y="391298"/>
                    <a:pt x="0" y="381263"/>
                  </a:cubicBezTo>
                  <a:lnTo>
                    <a:pt x="0" y="37837"/>
                  </a:lnTo>
                  <a:cubicBezTo>
                    <a:pt x="0" y="27802"/>
                    <a:pt x="3986" y="18178"/>
                    <a:pt x="11082" y="11082"/>
                  </a:cubicBezTo>
                  <a:cubicBezTo>
                    <a:pt x="18178" y="3986"/>
                    <a:pt x="27802" y="0"/>
                    <a:pt x="37837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PREPARACIÓN AMBIENTE SUPABASE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97523" y="6363364"/>
            <a:ext cx="3996346" cy="2637589"/>
            <a:chOff x="0" y="0"/>
            <a:chExt cx="635000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7837" y="0"/>
                  </a:moveTo>
                  <a:lnTo>
                    <a:pt x="597163" y="0"/>
                  </a:lnTo>
                  <a:cubicBezTo>
                    <a:pt x="607198" y="0"/>
                    <a:pt x="616822" y="3986"/>
                    <a:pt x="623918" y="11082"/>
                  </a:cubicBezTo>
                  <a:cubicBezTo>
                    <a:pt x="631014" y="18178"/>
                    <a:pt x="635000" y="27802"/>
                    <a:pt x="635000" y="37837"/>
                  </a:cubicBezTo>
                  <a:lnTo>
                    <a:pt x="635000" y="381263"/>
                  </a:lnTo>
                  <a:cubicBezTo>
                    <a:pt x="635000" y="391298"/>
                    <a:pt x="631014" y="400922"/>
                    <a:pt x="623918" y="408018"/>
                  </a:cubicBezTo>
                  <a:cubicBezTo>
                    <a:pt x="616822" y="415114"/>
                    <a:pt x="607198" y="419100"/>
                    <a:pt x="597163" y="419100"/>
                  </a:cubicBezTo>
                  <a:lnTo>
                    <a:pt x="37837" y="419100"/>
                  </a:lnTo>
                  <a:cubicBezTo>
                    <a:pt x="27802" y="419100"/>
                    <a:pt x="18178" y="415114"/>
                    <a:pt x="11082" y="408018"/>
                  </a:cubicBezTo>
                  <a:cubicBezTo>
                    <a:pt x="3986" y="400922"/>
                    <a:pt x="0" y="391298"/>
                    <a:pt x="0" y="381263"/>
                  </a:cubicBezTo>
                  <a:lnTo>
                    <a:pt x="0" y="37837"/>
                  </a:lnTo>
                  <a:cubicBezTo>
                    <a:pt x="0" y="27802"/>
                    <a:pt x="3986" y="18178"/>
                    <a:pt x="11082" y="11082"/>
                  </a:cubicBezTo>
                  <a:cubicBezTo>
                    <a:pt x="18178" y="3986"/>
                    <a:pt x="27802" y="0"/>
                    <a:pt x="37837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REUNIR PLANTILLAS DE DOCUMENTOS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300213" y="5798447"/>
            <a:ext cx="1129835" cy="1129835"/>
          </a:xfrm>
          <a:custGeom>
            <a:avLst/>
            <a:gdLst/>
            <a:ahLst/>
            <a:cxnLst/>
            <a:rect r="r" b="b" t="t" l="l"/>
            <a:pathLst>
              <a:path h="1129835" w="1129835">
                <a:moveTo>
                  <a:pt x="0" y="0"/>
                </a:moveTo>
                <a:lnTo>
                  <a:pt x="1129835" y="0"/>
                </a:lnTo>
                <a:lnTo>
                  <a:pt x="1129835" y="1129835"/>
                </a:lnTo>
                <a:lnTo>
                  <a:pt x="0" y="1129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Resumen Sprint 0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713380" y="5798447"/>
            <a:ext cx="1129835" cy="1129835"/>
          </a:xfrm>
          <a:custGeom>
            <a:avLst/>
            <a:gdLst/>
            <a:ahLst/>
            <a:cxnLst/>
            <a:rect r="r" b="b" t="t" l="l"/>
            <a:pathLst>
              <a:path h="1129835" w="1129835">
                <a:moveTo>
                  <a:pt x="0" y="0"/>
                </a:moveTo>
                <a:lnTo>
                  <a:pt x="1129835" y="0"/>
                </a:lnTo>
                <a:lnTo>
                  <a:pt x="1129835" y="1129835"/>
                </a:lnTo>
                <a:lnTo>
                  <a:pt x="0" y="1129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129465" y="5798447"/>
            <a:ext cx="1129835" cy="1129835"/>
          </a:xfrm>
          <a:custGeom>
            <a:avLst/>
            <a:gdLst/>
            <a:ahLst/>
            <a:cxnLst/>
            <a:rect r="r" b="b" t="t" l="l"/>
            <a:pathLst>
              <a:path h="1129835" w="1129835">
                <a:moveTo>
                  <a:pt x="0" y="0"/>
                </a:moveTo>
                <a:lnTo>
                  <a:pt x="1129835" y="0"/>
                </a:lnTo>
                <a:lnTo>
                  <a:pt x="1129835" y="1129835"/>
                </a:lnTo>
                <a:lnTo>
                  <a:pt x="0" y="1129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1582" y="229849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Duración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88625" y="5396302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Tareas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055757" y="3173937"/>
            <a:ext cx="3622400" cy="1044191"/>
            <a:chOff x="0" y="0"/>
            <a:chExt cx="635000" cy="1830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" cy="183045"/>
            </a:xfrm>
            <a:custGeom>
              <a:avLst/>
              <a:gdLst/>
              <a:ahLst/>
              <a:cxnLst/>
              <a:rect r="r" b="b" t="t" l="l"/>
              <a:pathLst>
                <a:path h="183045" w="635000">
                  <a:moveTo>
                    <a:pt x="41743" y="0"/>
                  </a:moveTo>
                  <a:lnTo>
                    <a:pt x="593257" y="0"/>
                  </a:lnTo>
                  <a:cubicBezTo>
                    <a:pt x="616311" y="0"/>
                    <a:pt x="635000" y="18689"/>
                    <a:pt x="635000" y="41743"/>
                  </a:cubicBezTo>
                  <a:lnTo>
                    <a:pt x="635000" y="141302"/>
                  </a:lnTo>
                  <a:cubicBezTo>
                    <a:pt x="635000" y="164356"/>
                    <a:pt x="616311" y="183045"/>
                    <a:pt x="593257" y="183045"/>
                  </a:cubicBezTo>
                  <a:lnTo>
                    <a:pt x="41743" y="183045"/>
                  </a:lnTo>
                  <a:cubicBezTo>
                    <a:pt x="30672" y="183045"/>
                    <a:pt x="20055" y="178647"/>
                    <a:pt x="12226" y="170819"/>
                  </a:cubicBezTo>
                  <a:cubicBezTo>
                    <a:pt x="4398" y="162990"/>
                    <a:pt x="0" y="152373"/>
                    <a:pt x="0" y="141302"/>
                  </a:cubicBezTo>
                  <a:lnTo>
                    <a:pt x="0" y="41743"/>
                  </a:lnTo>
                  <a:cubicBezTo>
                    <a:pt x="0" y="18689"/>
                    <a:pt x="18689" y="0"/>
                    <a:pt x="41743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35000" cy="22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 SEMANA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845154" y="216408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624077" y="3016193"/>
            <a:ext cx="2358462" cy="1556585"/>
            <a:chOff x="0" y="0"/>
            <a:chExt cx="635000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114" y="0"/>
                  </a:moveTo>
                  <a:lnTo>
                    <a:pt x="570886" y="0"/>
                  </a:lnTo>
                  <a:cubicBezTo>
                    <a:pt x="606295" y="0"/>
                    <a:pt x="635000" y="28705"/>
                    <a:pt x="635000" y="64114"/>
                  </a:cubicBezTo>
                  <a:lnTo>
                    <a:pt x="635000" y="354986"/>
                  </a:lnTo>
                  <a:cubicBezTo>
                    <a:pt x="635000" y="390395"/>
                    <a:pt x="606295" y="419100"/>
                    <a:pt x="570886" y="419100"/>
                  </a:cubicBezTo>
                  <a:lnTo>
                    <a:pt x="64114" y="419100"/>
                  </a:lnTo>
                  <a:cubicBezTo>
                    <a:pt x="28705" y="419100"/>
                    <a:pt x="0" y="390395"/>
                    <a:pt x="0" y="354986"/>
                  </a:cubicBezTo>
                  <a:lnTo>
                    <a:pt x="0" y="64114"/>
                  </a:lnTo>
                  <a:cubicBezTo>
                    <a:pt x="0" y="28705"/>
                    <a:pt x="28705" y="0"/>
                    <a:pt x="64114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BURNDOWN CHART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18682" y="3016193"/>
            <a:ext cx="2564379" cy="1556585"/>
            <a:chOff x="0" y="0"/>
            <a:chExt cx="690442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58965" y="0"/>
                  </a:moveTo>
                  <a:lnTo>
                    <a:pt x="631476" y="0"/>
                  </a:lnTo>
                  <a:cubicBezTo>
                    <a:pt x="647115" y="0"/>
                    <a:pt x="662113" y="6212"/>
                    <a:pt x="673171" y="17271"/>
                  </a:cubicBezTo>
                  <a:cubicBezTo>
                    <a:pt x="684229" y="28329"/>
                    <a:pt x="690442" y="43327"/>
                    <a:pt x="690442" y="58965"/>
                  </a:cubicBezTo>
                  <a:lnTo>
                    <a:pt x="690442" y="360135"/>
                  </a:lnTo>
                  <a:cubicBezTo>
                    <a:pt x="690442" y="375773"/>
                    <a:pt x="684229" y="390771"/>
                    <a:pt x="673171" y="401829"/>
                  </a:cubicBezTo>
                  <a:cubicBezTo>
                    <a:pt x="662113" y="412888"/>
                    <a:pt x="647115" y="419100"/>
                    <a:pt x="631476" y="419100"/>
                  </a:cubicBezTo>
                  <a:lnTo>
                    <a:pt x="58965" y="419100"/>
                  </a:lnTo>
                  <a:cubicBezTo>
                    <a:pt x="43327" y="419100"/>
                    <a:pt x="28329" y="412888"/>
                    <a:pt x="17271" y="401829"/>
                  </a:cubicBezTo>
                  <a:cubicBezTo>
                    <a:pt x="6212" y="390771"/>
                    <a:pt x="0" y="375773"/>
                    <a:pt x="0" y="360135"/>
                  </a:cubicBezTo>
                  <a:lnTo>
                    <a:pt x="0" y="58965"/>
                  </a:lnTo>
                  <a:cubicBezTo>
                    <a:pt x="0" y="43327"/>
                    <a:pt x="6212" y="28329"/>
                    <a:pt x="17271" y="17271"/>
                  </a:cubicBezTo>
                  <a:cubicBezTo>
                    <a:pt x="28329" y="6212"/>
                    <a:pt x="43327" y="0"/>
                    <a:pt x="5896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9044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RETROSPECTIVE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014706" y="3016193"/>
            <a:ext cx="2358462" cy="1556585"/>
            <a:chOff x="0" y="0"/>
            <a:chExt cx="635000" cy="419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114" y="0"/>
                  </a:moveTo>
                  <a:lnTo>
                    <a:pt x="570886" y="0"/>
                  </a:lnTo>
                  <a:cubicBezTo>
                    <a:pt x="606295" y="0"/>
                    <a:pt x="635000" y="28705"/>
                    <a:pt x="635000" y="64114"/>
                  </a:cubicBezTo>
                  <a:lnTo>
                    <a:pt x="635000" y="354986"/>
                  </a:lnTo>
                  <a:cubicBezTo>
                    <a:pt x="635000" y="390395"/>
                    <a:pt x="606295" y="419100"/>
                    <a:pt x="570886" y="419100"/>
                  </a:cubicBezTo>
                  <a:lnTo>
                    <a:pt x="64114" y="419100"/>
                  </a:lnTo>
                  <a:cubicBezTo>
                    <a:pt x="28705" y="419100"/>
                    <a:pt x="0" y="390395"/>
                    <a:pt x="0" y="354986"/>
                  </a:cubicBezTo>
                  <a:lnTo>
                    <a:pt x="0" y="64114"/>
                  </a:lnTo>
                  <a:cubicBezTo>
                    <a:pt x="0" y="28705"/>
                    <a:pt x="28705" y="0"/>
                    <a:pt x="64114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DAILY MEETING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0649150" y="2682805"/>
            <a:ext cx="666777" cy="666777"/>
          </a:xfrm>
          <a:custGeom>
            <a:avLst/>
            <a:gdLst/>
            <a:ahLst/>
            <a:cxnLst/>
            <a:rect r="r" b="b" t="t" l="l"/>
            <a:pathLst>
              <a:path h="666777" w="666777">
                <a:moveTo>
                  <a:pt x="0" y="0"/>
                </a:moveTo>
                <a:lnTo>
                  <a:pt x="666777" y="0"/>
                </a:lnTo>
                <a:lnTo>
                  <a:pt x="666777" y="666777"/>
                </a:lnTo>
                <a:lnTo>
                  <a:pt x="0" y="666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843756" y="2682805"/>
            <a:ext cx="666777" cy="666777"/>
          </a:xfrm>
          <a:custGeom>
            <a:avLst/>
            <a:gdLst/>
            <a:ahLst/>
            <a:cxnLst/>
            <a:rect r="r" b="b" t="t" l="l"/>
            <a:pathLst>
              <a:path h="666777" w="666777">
                <a:moveTo>
                  <a:pt x="0" y="0"/>
                </a:moveTo>
                <a:lnTo>
                  <a:pt x="666777" y="0"/>
                </a:lnTo>
                <a:lnTo>
                  <a:pt x="666777" y="666777"/>
                </a:lnTo>
                <a:lnTo>
                  <a:pt x="0" y="666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7040083" y="2682805"/>
            <a:ext cx="666777" cy="666777"/>
          </a:xfrm>
          <a:custGeom>
            <a:avLst/>
            <a:gdLst/>
            <a:ahLst/>
            <a:cxnLst/>
            <a:rect r="r" b="b" t="t" l="l"/>
            <a:pathLst>
              <a:path h="666777" w="666777">
                <a:moveTo>
                  <a:pt x="0" y="0"/>
                </a:moveTo>
                <a:lnTo>
                  <a:pt x="666777" y="0"/>
                </a:lnTo>
                <a:lnTo>
                  <a:pt x="666777" y="666777"/>
                </a:lnTo>
                <a:lnTo>
                  <a:pt x="0" y="666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04920" y="2087881"/>
            <a:ext cx="16678160" cy="7046523"/>
          </a:xfrm>
          <a:custGeom>
            <a:avLst/>
            <a:gdLst/>
            <a:ahLst/>
            <a:cxnLst/>
            <a:rect r="r" b="b" t="t" l="l"/>
            <a:pathLst>
              <a:path h="7046523" w="16678160">
                <a:moveTo>
                  <a:pt x="0" y="0"/>
                </a:moveTo>
                <a:lnTo>
                  <a:pt x="16678160" y="0"/>
                </a:lnTo>
                <a:lnTo>
                  <a:pt x="16678160" y="7046522"/>
                </a:lnTo>
                <a:lnTo>
                  <a:pt x="0" y="7046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04737" y="2420770"/>
            <a:ext cx="16639919" cy="5033576"/>
          </a:xfrm>
          <a:custGeom>
            <a:avLst/>
            <a:gdLst/>
            <a:ahLst/>
            <a:cxnLst/>
            <a:rect r="r" b="b" t="t" l="l"/>
            <a:pathLst>
              <a:path h="5033576" w="16639919">
                <a:moveTo>
                  <a:pt x="0" y="0"/>
                </a:moveTo>
                <a:lnTo>
                  <a:pt x="16639919" y="0"/>
                </a:lnTo>
                <a:lnTo>
                  <a:pt x="16639919" y="5033576"/>
                </a:lnTo>
                <a:lnTo>
                  <a:pt x="0" y="503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Retrospective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1271" y="3481663"/>
            <a:ext cx="13645457" cy="166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b="true" sz="124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Iteración Sprint 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15051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Resumen Sprint 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8197" y="6500696"/>
            <a:ext cx="2351605" cy="1552059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CRUD DE USUARIO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43514" y="6500696"/>
            <a:ext cx="2351605" cy="1552059"/>
            <a:chOff x="0" y="0"/>
            <a:chExt cx="635000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CONFIGURACIÓN DE PERMISOS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30246" y="6500696"/>
            <a:ext cx="2351605" cy="1552059"/>
            <a:chOff x="0" y="0"/>
            <a:chExt cx="635000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PIPELINE DE INGESTA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677382" y="6168277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62700" y="6168277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49734" y="6168277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1582" y="229849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Duración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88874" y="5596777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Tareas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055757" y="3173937"/>
            <a:ext cx="3622400" cy="1044191"/>
            <a:chOff x="0" y="0"/>
            <a:chExt cx="635000" cy="1830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" cy="183045"/>
            </a:xfrm>
            <a:custGeom>
              <a:avLst/>
              <a:gdLst/>
              <a:ahLst/>
              <a:cxnLst/>
              <a:rect r="r" b="b" t="t" l="l"/>
              <a:pathLst>
                <a:path h="183045" w="635000">
                  <a:moveTo>
                    <a:pt x="41743" y="0"/>
                  </a:moveTo>
                  <a:lnTo>
                    <a:pt x="593257" y="0"/>
                  </a:lnTo>
                  <a:cubicBezTo>
                    <a:pt x="616311" y="0"/>
                    <a:pt x="635000" y="18689"/>
                    <a:pt x="635000" y="41743"/>
                  </a:cubicBezTo>
                  <a:lnTo>
                    <a:pt x="635000" y="141302"/>
                  </a:lnTo>
                  <a:cubicBezTo>
                    <a:pt x="635000" y="164356"/>
                    <a:pt x="616311" y="183045"/>
                    <a:pt x="593257" y="183045"/>
                  </a:cubicBezTo>
                  <a:lnTo>
                    <a:pt x="41743" y="183045"/>
                  </a:lnTo>
                  <a:cubicBezTo>
                    <a:pt x="30672" y="183045"/>
                    <a:pt x="20055" y="178647"/>
                    <a:pt x="12226" y="170819"/>
                  </a:cubicBezTo>
                  <a:cubicBezTo>
                    <a:pt x="4398" y="162990"/>
                    <a:pt x="0" y="152373"/>
                    <a:pt x="0" y="141302"/>
                  </a:cubicBezTo>
                  <a:lnTo>
                    <a:pt x="0" y="41743"/>
                  </a:lnTo>
                  <a:cubicBezTo>
                    <a:pt x="0" y="18689"/>
                    <a:pt x="18689" y="0"/>
                    <a:pt x="41743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35000" cy="22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 SEMANAS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845154" y="216408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962329" y="2795294"/>
            <a:ext cx="1701950" cy="1123287"/>
            <a:chOff x="0" y="0"/>
            <a:chExt cx="635000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BURNDOWN CHART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267669" y="2795294"/>
            <a:ext cx="1850546" cy="1123287"/>
            <a:chOff x="0" y="0"/>
            <a:chExt cx="690442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81711" y="0"/>
                  </a:moveTo>
                  <a:lnTo>
                    <a:pt x="608731" y="0"/>
                  </a:lnTo>
                  <a:cubicBezTo>
                    <a:pt x="630402" y="0"/>
                    <a:pt x="651185" y="8609"/>
                    <a:pt x="666509" y="23932"/>
                  </a:cubicBezTo>
                  <a:cubicBezTo>
                    <a:pt x="681833" y="39256"/>
                    <a:pt x="690442" y="60040"/>
                    <a:pt x="690442" y="81711"/>
                  </a:cubicBezTo>
                  <a:lnTo>
                    <a:pt x="690442" y="337389"/>
                  </a:lnTo>
                  <a:cubicBezTo>
                    <a:pt x="690442" y="382517"/>
                    <a:pt x="653859" y="419100"/>
                    <a:pt x="608731" y="419100"/>
                  </a:cubicBezTo>
                  <a:lnTo>
                    <a:pt x="81711" y="419100"/>
                  </a:lnTo>
                  <a:cubicBezTo>
                    <a:pt x="36583" y="419100"/>
                    <a:pt x="0" y="382517"/>
                    <a:pt x="0" y="337389"/>
                  </a:cubicBezTo>
                  <a:lnTo>
                    <a:pt x="0" y="81711"/>
                  </a:lnTo>
                  <a:cubicBezTo>
                    <a:pt x="0" y="36583"/>
                    <a:pt x="36583" y="0"/>
                    <a:pt x="81711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90442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  <a:r>
                <a:rPr lang="en-US" b="true" sz="1300" spc="16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RETROSPECTIVE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574034" y="2795294"/>
            <a:ext cx="1701950" cy="1123287"/>
            <a:chOff x="0" y="0"/>
            <a:chExt cx="635000" cy="419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DAILY MEETING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2423694" y="2554709"/>
            <a:ext cx="481170" cy="481170"/>
          </a:xfrm>
          <a:custGeom>
            <a:avLst/>
            <a:gdLst/>
            <a:ahLst/>
            <a:cxnLst/>
            <a:rect r="r" b="b" t="t" l="l"/>
            <a:pathLst>
              <a:path h="481170" w="481170">
                <a:moveTo>
                  <a:pt x="0" y="0"/>
                </a:moveTo>
                <a:lnTo>
                  <a:pt x="481170" y="0"/>
                </a:lnTo>
                <a:lnTo>
                  <a:pt x="481170" y="481170"/>
                </a:lnTo>
                <a:lnTo>
                  <a:pt x="0" y="481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729034" y="2554709"/>
            <a:ext cx="481170" cy="481170"/>
          </a:xfrm>
          <a:custGeom>
            <a:avLst/>
            <a:gdLst/>
            <a:ahLst/>
            <a:cxnLst/>
            <a:rect r="r" b="b" t="t" l="l"/>
            <a:pathLst>
              <a:path h="481170" w="481170">
                <a:moveTo>
                  <a:pt x="0" y="0"/>
                </a:moveTo>
                <a:lnTo>
                  <a:pt x="481170" y="0"/>
                </a:lnTo>
                <a:lnTo>
                  <a:pt x="481170" y="481170"/>
                </a:lnTo>
                <a:lnTo>
                  <a:pt x="0" y="481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7035617" y="2554709"/>
            <a:ext cx="481170" cy="481170"/>
          </a:xfrm>
          <a:custGeom>
            <a:avLst/>
            <a:gdLst/>
            <a:ahLst/>
            <a:cxnLst/>
            <a:rect r="r" b="b" t="t" l="l"/>
            <a:pathLst>
              <a:path h="481170" w="481170">
                <a:moveTo>
                  <a:pt x="0" y="0"/>
                </a:moveTo>
                <a:lnTo>
                  <a:pt x="481170" y="0"/>
                </a:lnTo>
                <a:lnTo>
                  <a:pt x="481170" y="481170"/>
                </a:lnTo>
                <a:lnTo>
                  <a:pt x="0" y="481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962329" y="4159165"/>
            <a:ext cx="1701950" cy="1123287"/>
            <a:chOff x="0" y="0"/>
            <a:chExt cx="635000" cy="419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IMPEDIMENT LOG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267669" y="4159165"/>
            <a:ext cx="1850546" cy="1123287"/>
            <a:chOff x="0" y="0"/>
            <a:chExt cx="690442" cy="419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81711" y="0"/>
                  </a:moveTo>
                  <a:lnTo>
                    <a:pt x="608731" y="0"/>
                  </a:lnTo>
                  <a:cubicBezTo>
                    <a:pt x="630402" y="0"/>
                    <a:pt x="651185" y="8609"/>
                    <a:pt x="666509" y="23932"/>
                  </a:cubicBezTo>
                  <a:cubicBezTo>
                    <a:pt x="681833" y="39256"/>
                    <a:pt x="690442" y="60040"/>
                    <a:pt x="690442" y="81711"/>
                  </a:cubicBezTo>
                  <a:lnTo>
                    <a:pt x="690442" y="337389"/>
                  </a:lnTo>
                  <a:cubicBezTo>
                    <a:pt x="690442" y="382517"/>
                    <a:pt x="653859" y="419100"/>
                    <a:pt x="608731" y="419100"/>
                  </a:cubicBezTo>
                  <a:lnTo>
                    <a:pt x="81711" y="419100"/>
                  </a:lnTo>
                  <a:cubicBezTo>
                    <a:pt x="36583" y="419100"/>
                    <a:pt x="0" y="382517"/>
                    <a:pt x="0" y="337389"/>
                  </a:cubicBezTo>
                  <a:lnTo>
                    <a:pt x="0" y="81711"/>
                  </a:lnTo>
                  <a:cubicBezTo>
                    <a:pt x="0" y="36583"/>
                    <a:pt x="36583" y="0"/>
                    <a:pt x="81711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690442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REVIEW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574034" y="4159165"/>
            <a:ext cx="1701950" cy="1123287"/>
            <a:chOff x="0" y="0"/>
            <a:chExt cx="635000" cy="419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BACKLOG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423694" y="3918580"/>
            <a:ext cx="481170" cy="481170"/>
          </a:xfrm>
          <a:custGeom>
            <a:avLst/>
            <a:gdLst/>
            <a:ahLst/>
            <a:cxnLst/>
            <a:rect r="r" b="b" t="t" l="l"/>
            <a:pathLst>
              <a:path h="481170" w="481170">
                <a:moveTo>
                  <a:pt x="0" y="0"/>
                </a:moveTo>
                <a:lnTo>
                  <a:pt x="481170" y="0"/>
                </a:lnTo>
                <a:lnTo>
                  <a:pt x="481170" y="481170"/>
                </a:lnTo>
                <a:lnTo>
                  <a:pt x="0" y="481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729034" y="3918580"/>
            <a:ext cx="481170" cy="481170"/>
          </a:xfrm>
          <a:custGeom>
            <a:avLst/>
            <a:gdLst/>
            <a:ahLst/>
            <a:cxnLst/>
            <a:rect r="r" b="b" t="t" l="l"/>
            <a:pathLst>
              <a:path h="481170" w="481170">
                <a:moveTo>
                  <a:pt x="0" y="0"/>
                </a:moveTo>
                <a:lnTo>
                  <a:pt x="481170" y="0"/>
                </a:lnTo>
                <a:lnTo>
                  <a:pt x="481170" y="481170"/>
                </a:lnTo>
                <a:lnTo>
                  <a:pt x="0" y="481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7035617" y="3918580"/>
            <a:ext cx="481170" cy="481170"/>
          </a:xfrm>
          <a:custGeom>
            <a:avLst/>
            <a:gdLst/>
            <a:ahLst/>
            <a:cxnLst/>
            <a:rect r="r" b="b" t="t" l="l"/>
            <a:pathLst>
              <a:path h="481170" w="481170">
                <a:moveTo>
                  <a:pt x="0" y="0"/>
                </a:moveTo>
                <a:lnTo>
                  <a:pt x="481170" y="0"/>
                </a:lnTo>
                <a:lnTo>
                  <a:pt x="481170" y="481170"/>
                </a:lnTo>
                <a:lnTo>
                  <a:pt x="0" y="481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3658197" y="8222810"/>
            <a:ext cx="2351605" cy="1552059"/>
            <a:chOff x="0" y="0"/>
            <a:chExt cx="635000" cy="419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LIMPIEZA DE DATOS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92395" y="8222810"/>
            <a:ext cx="2351605" cy="1552059"/>
            <a:chOff x="0" y="0"/>
            <a:chExt cx="635000" cy="419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CREACIÓN MODELO DATA WAREHOUSE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5677382" y="7890391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862700" y="7890391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2945976" y="6581879"/>
            <a:ext cx="2351605" cy="1552059"/>
            <a:chOff x="0" y="0"/>
            <a:chExt cx="635000" cy="4191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VISTA GEOGRÁFICA POWER BI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4965464" y="624946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0030246" y="8222810"/>
            <a:ext cx="2351605" cy="1552059"/>
            <a:chOff x="0" y="0"/>
            <a:chExt cx="635000" cy="4191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VISTA COLEGIO EN POWER BI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2091275" y="8052756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8884492" y="3356937"/>
            <a:ext cx="1701950" cy="1123287"/>
            <a:chOff x="0" y="0"/>
            <a:chExt cx="635000" cy="419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PLAN DE PRUEBAS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0345856" y="3236644"/>
            <a:ext cx="481170" cy="481170"/>
          </a:xfrm>
          <a:custGeom>
            <a:avLst/>
            <a:gdLst/>
            <a:ahLst/>
            <a:cxnLst/>
            <a:rect r="r" b="b" t="t" l="l"/>
            <a:pathLst>
              <a:path h="481170" w="481170">
                <a:moveTo>
                  <a:pt x="0" y="0"/>
                </a:moveTo>
                <a:lnTo>
                  <a:pt x="481170" y="0"/>
                </a:lnTo>
                <a:lnTo>
                  <a:pt x="481170" y="481171"/>
                </a:lnTo>
                <a:lnTo>
                  <a:pt x="0" y="481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04737" y="2087881"/>
            <a:ext cx="16902123" cy="6507317"/>
          </a:xfrm>
          <a:custGeom>
            <a:avLst/>
            <a:gdLst/>
            <a:ahLst/>
            <a:cxnLst/>
            <a:rect r="r" b="b" t="t" l="l"/>
            <a:pathLst>
              <a:path h="6507317" w="16902123">
                <a:moveTo>
                  <a:pt x="0" y="0"/>
                </a:moveTo>
                <a:lnTo>
                  <a:pt x="16902123" y="0"/>
                </a:lnTo>
                <a:lnTo>
                  <a:pt x="16902123" y="6507317"/>
                </a:lnTo>
                <a:lnTo>
                  <a:pt x="0" y="6507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Backlog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087881"/>
            <a:ext cx="16678160" cy="7004827"/>
          </a:xfrm>
          <a:custGeom>
            <a:avLst/>
            <a:gdLst/>
            <a:ahLst/>
            <a:cxnLst/>
            <a:rect r="r" b="b" t="t" l="l"/>
            <a:pathLst>
              <a:path h="7004827" w="16678160">
                <a:moveTo>
                  <a:pt x="0" y="0"/>
                </a:moveTo>
                <a:lnTo>
                  <a:pt x="16678160" y="0"/>
                </a:lnTo>
                <a:lnTo>
                  <a:pt x="16678160" y="7004827"/>
                </a:lnTo>
                <a:lnTo>
                  <a:pt x="0" y="7004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81140" y="2087881"/>
            <a:ext cx="17125720" cy="6015409"/>
          </a:xfrm>
          <a:custGeom>
            <a:avLst/>
            <a:gdLst/>
            <a:ahLst/>
            <a:cxnLst/>
            <a:rect r="r" b="b" t="t" l="l"/>
            <a:pathLst>
              <a:path h="6015409" w="17125720">
                <a:moveTo>
                  <a:pt x="0" y="0"/>
                </a:moveTo>
                <a:lnTo>
                  <a:pt x="17125720" y="0"/>
                </a:lnTo>
                <a:lnTo>
                  <a:pt x="17125720" y="6015409"/>
                </a:lnTo>
                <a:lnTo>
                  <a:pt x="0" y="6015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Impediment 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2087881"/>
            <a:ext cx="16230600" cy="1584980"/>
            <a:chOff x="0" y="0"/>
            <a:chExt cx="4274726" cy="4174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417443"/>
            </a:xfrm>
            <a:custGeom>
              <a:avLst/>
              <a:gdLst/>
              <a:ahLst/>
              <a:cxnLst/>
              <a:rect r="r" b="b" t="t" l="l"/>
              <a:pathLst>
                <a:path h="41744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93117"/>
                  </a:lnTo>
                  <a:cubicBezTo>
                    <a:pt x="4274726" y="406552"/>
                    <a:pt x="4263834" y="417443"/>
                    <a:pt x="4250399" y="417443"/>
                  </a:cubicBezTo>
                  <a:lnTo>
                    <a:pt x="24327" y="417443"/>
                  </a:lnTo>
                  <a:cubicBezTo>
                    <a:pt x="17875" y="417443"/>
                    <a:pt x="11687" y="414880"/>
                    <a:pt x="7125" y="410318"/>
                  </a:cubicBezTo>
                  <a:cubicBezTo>
                    <a:pt x="2563" y="405756"/>
                    <a:pt x="0" y="399568"/>
                    <a:pt x="0" y="39311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274726" cy="44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796112"/>
            <a:ext cx="4741747" cy="2225164"/>
            <a:chOff x="0" y="0"/>
            <a:chExt cx="1248855" cy="5860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8855" cy="586051"/>
            </a:xfrm>
            <a:custGeom>
              <a:avLst/>
              <a:gdLst/>
              <a:ahLst/>
              <a:cxnLst/>
              <a:rect r="r" b="b" t="t" l="l"/>
              <a:pathLst>
                <a:path h="586051" w="1248855">
                  <a:moveTo>
                    <a:pt x="83268" y="0"/>
                  </a:moveTo>
                  <a:lnTo>
                    <a:pt x="1165587" y="0"/>
                  </a:lnTo>
                  <a:cubicBezTo>
                    <a:pt x="1211575" y="0"/>
                    <a:pt x="1248855" y="37281"/>
                    <a:pt x="1248855" y="83268"/>
                  </a:cubicBezTo>
                  <a:lnTo>
                    <a:pt x="1248855" y="502783"/>
                  </a:lnTo>
                  <a:cubicBezTo>
                    <a:pt x="1248855" y="548771"/>
                    <a:pt x="1211575" y="586051"/>
                    <a:pt x="1165587" y="586051"/>
                  </a:cubicBezTo>
                  <a:lnTo>
                    <a:pt x="83268" y="586051"/>
                  </a:lnTo>
                  <a:cubicBezTo>
                    <a:pt x="61184" y="586051"/>
                    <a:pt x="40005" y="577278"/>
                    <a:pt x="24389" y="561663"/>
                  </a:cubicBezTo>
                  <a:cubicBezTo>
                    <a:pt x="8773" y="546047"/>
                    <a:pt x="0" y="524867"/>
                    <a:pt x="0" y="502783"/>
                  </a:cubicBezTo>
                  <a:lnTo>
                    <a:pt x="0" y="83268"/>
                  </a:lnTo>
                  <a:cubicBezTo>
                    <a:pt x="0" y="37281"/>
                    <a:pt x="37281" y="0"/>
                    <a:pt x="83268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48855" cy="614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89622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216" y="2319666"/>
            <a:ext cx="15859718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OBJETIVOS DEL SPRINT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 DISEÑAR UN REPOSITORIO ÚNICO DE INFORMACIÓN QUE PERMITA AL ÁREA DE ADMISIÓN CONSULTAR DATOS RELEVANTES DE MANERA EFICIENTE Y EN TIEMPO REAL.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597563" y="6227507"/>
            <a:ext cx="3604022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 MÉTRICAS DEL SPRINT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PLANIFICADAS: 9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COMPLETADAS: 8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908611" y="5535445"/>
            <a:ext cx="11276033" cy="1596325"/>
            <a:chOff x="0" y="0"/>
            <a:chExt cx="2969820" cy="4204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69820" cy="420431"/>
            </a:xfrm>
            <a:custGeom>
              <a:avLst/>
              <a:gdLst/>
              <a:ahLst/>
              <a:cxnLst/>
              <a:rect r="r" b="b" t="t" l="l"/>
              <a:pathLst>
                <a:path h="420431" w="2969820">
                  <a:moveTo>
                    <a:pt x="35016" y="0"/>
                  </a:moveTo>
                  <a:lnTo>
                    <a:pt x="2934804" y="0"/>
                  </a:lnTo>
                  <a:cubicBezTo>
                    <a:pt x="2944091" y="0"/>
                    <a:pt x="2952997" y="3689"/>
                    <a:pt x="2959564" y="10256"/>
                  </a:cubicBezTo>
                  <a:cubicBezTo>
                    <a:pt x="2966130" y="16823"/>
                    <a:pt x="2969820" y="25729"/>
                    <a:pt x="2969820" y="35016"/>
                  </a:cubicBezTo>
                  <a:lnTo>
                    <a:pt x="2969820" y="385416"/>
                  </a:lnTo>
                  <a:cubicBezTo>
                    <a:pt x="2969820" y="394702"/>
                    <a:pt x="2966130" y="403609"/>
                    <a:pt x="2959564" y="410175"/>
                  </a:cubicBezTo>
                  <a:cubicBezTo>
                    <a:pt x="2952997" y="416742"/>
                    <a:pt x="2944091" y="420431"/>
                    <a:pt x="2934804" y="420431"/>
                  </a:cubicBezTo>
                  <a:lnTo>
                    <a:pt x="35016" y="420431"/>
                  </a:lnTo>
                  <a:cubicBezTo>
                    <a:pt x="25729" y="420431"/>
                    <a:pt x="16823" y="416742"/>
                    <a:pt x="10256" y="410175"/>
                  </a:cubicBezTo>
                  <a:cubicBezTo>
                    <a:pt x="3689" y="403609"/>
                    <a:pt x="0" y="394702"/>
                    <a:pt x="0" y="385416"/>
                  </a:cubicBezTo>
                  <a:lnTo>
                    <a:pt x="0" y="35016"/>
                  </a:lnTo>
                  <a:cubicBezTo>
                    <a:pt x="0" y="25729"/>
                    <a:pt x="3689" y="16823"/>
                    <a:pt x="10256" y="10256"/>
                  </a:cubicBezTo>
                  <a:cubicBezTo>
                    <a:pt x="16823" y="3689"/>
                    <a:pt x="25729" y="0"/>
                    <a:pt x="35016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969820" cy="44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62975" y="5767537"/>
            <a:ext cx="10878047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POSITIVO: LA VISTA DEL COLEGIO, ME GUSTA QUE TENGA EL MAPA DEL SECTOR PARA MAS CLARIDAD AL MOMENTO DE PLANIFICAR EL VIAJE.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0132204" y="4291450"/>
            <a:ext cx="4741747" cy="834420"/>
            <a:chOff x="0" y="0"/>
            <a:chExt cx="1248855" cy="2197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8855" cy="219765"/>
            </a:xfrm>
            <a:custGeom>
              <a:avLst/>
              <a:gdLst/>
              <a:ahLst/>
              <a:cxnLst/>
              <a:rect r="r" b="b" t="t" l="l"/>
              <a:pathLst>
                <a:path h="219765" w="1248855">
                  <a:moveTo>
                    <a:pt x="83268" y="0"/>
                  </a:moveTo>
                  <a:lnTo>
                    <a:pt x="1165587" y="0"/>
                  </a:lnTo>
                  <a:cubicBezTo>
                    <a:pt x="1211575" y="0"/>
                    <a:pt x="1248855" y="37281"/>
                    <a:pt x="1248855" y="83268"/>
                  </a:cubicBezTo>
                  <a:lnTo>
                    <a:pt x="1248855" y="136497"/>
                  </a:lnTo>
                  <a:cubicBezTo>
                    <a:pt x="1248855" y="158581"/>
                    <a:pt x="1240082" y="179760"/>
                    <a:pt x="1224466" y="195376"/>
                  </a:cubicBezTo>
                  <a:cubicBezTo>
                    <a:pt x="1208851" y="210992"/>
                    <a:pt x="1187671" y="219765"/>
                    <a:pt x="1165587" y="219765"/>
                  </a:cubicBezTo>
                  <a:lnTo>
                    <a:pt x="83268" y="219765"/>
                  </a:lnTo>
                  <a:cubicBezTo>
                    <a:pt x="37281" y="219765"/>
                    <a:pt x="0" y="182484"/>
                    <a:pt x="0" y="136497"/>
                  </a:cubicBezTo>
                  <a:lnTo>
                    <a:pt x="0" y="83268"/>
                  </a:lnTo>
                  <a:cubicBezTo>
                    <a:pt x="0" y="37281"/>
                    <a:pt x="37281" y="0"/>
                    <a:pt x="83268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48855" cy="248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55899" y="4579922"/>
            <a:ext cx="415242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FEEDBACK DEL PRODUCT OWNER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79577" y="7497926"/>
            <a:ext cx="11276033" cy="691120"/>
            <a:chOff x="0" y="0"/>
            <a:chExt cx="2969820" cy="1820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69820" cy="182023"/>
            </a:xfrm>
            <a:custGeom>
              <a:avLst/>
              <a:gdLst/>
              <a:ahLst/>
              <a:cxnLst/>
              <a:rect r="r" b="b" t="t" l="l"/>
              <a:pathLst>
                <a:path h="182023" w="2969820">
                  <a:moveTo>
                    <a:pt x="35016" y="0"/>
                  </a:moveTo>
                  <a:lnTo>
                    <a:pt x="2934804" y="0"/>
                  </a:lnTo>
                  <a:cubicBezTo>
                    <a:pt x="2944091" y="0"/>
                    <a:pt x="2952997" y="3689"/>
                    <a:pt x="2959564" y="10256"/>
                  </a:cubicBezTo>
                  <a:cubicBezTo>
                    <a:pt x="2966130" y="16823"/>
                    <a:pt x="2969820" y="25729"/>
                    <a:pt x="2969820" y="35016"/>
                  </a:cubicBezTo>
                  <a:lnTo>
                    <a:pt x="2969820" y="147008"/>
                  </a:lnTo>
                  <a:cubicBezTo>
                    <a:pt x="2969820" y="156294"/>
                    <a:pt x="2966130" y="165201"/>
                    <a:pt x="2959564" y="171767"/>
                  </a:cubicBezTo>
                  <a:cubicBezTo>
                    <a:pt x="2952997" y="178334"/>
                    <a:pt x="2944091" y="182023"/>
                    <a:pt x="2934804" y="182023"/>
                  </a:cubicBezTo>
                  <a:lnTo>
                    <a:pt x="35016" y="182023"/>
                  </a:lnTo>
                  <a:cubicBezTo>
                    <a:pt x="25729" y="182023"/>
                    <a:pt x="16823" y="178334"/>
                    <a:pt x="10256" y="171767"/>
                  </a:cubicBezTo>
                  <a:cubicBezTo>
                    <a:pt x="3689" y="165201"/>
                    <a:pt x="0" y="156294"/>
                    <a:pt x="0" y="147008"/>
                  </a:cubicBezTo>
                  <a:lnTo>
                    <a:pt x="0" y="35016"/>
                  </a:lnTo>
                  <a:cubicBezTo>
                    <a:pt x="0" y="25729"/>
                    <a:pt x="3689" y="16823"/>
                    <a:pt x="10256" y="10256"/>
                  </a:cubicBezTo>
                  <a:cubicBezTo>
                    <a:pt x="16823" y="3689"/>
                    <a:pt x="25729" y="0"/>
                    <a:pt x="35016" y="0"/>
                  </a:cubicBezTo>
                  <a:close/>
                </a:path>
              </a:pathLst>
            </a:custGeom>
            <a:solidFill>
              <a:srgbClr val="E0666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969820" cy="21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60158" y="7697118"/>
            <a:ext cx="468368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MEJORAR: NADA POR EL MOMENTO.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1271" y="3481663"/>
            <a:ext cx="13645457" cy="166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b="true" sz="124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Iteración Sprint 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15051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2991888" y="6367069"/>
            <a:ext cx="2351605" cy="1552059"/>
            <a:chOff x="0" y="0"/>
            <a:chExt cx="635000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ACCESO SEGURO AL DASHBOARD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78300" y="6344588"/>
            <a:ext cx="2351605" cy="1552059"/>
            <a:chOff x="0" y="0"/>
            <a:chExt cx="635000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VISUALIZACIÓN DE TENDENCIAS HISTÓRICAS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50674" y="6344588"/>
            <a:ext cx="2351605" cy="1552059"/>
            <a:chOff x="0" y="0"/>
            <a:chExt cx="635000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192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FILTRO TIPO DE ESTABLECIMIENTO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968217" y="6122545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055757" y="3173937"/>
            <a:ext cx="3622400" cy="1044191"/>
            <a:chOff x="0" y="0"/>
            <a:chExt cx="635000" cy="1830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" cy="183045"/>
            </a:xfrm>
            <a:custGeom>
              <a:avLst/>
              <a:gdLst/>
              <a:ahLst/>
              <a:cxnLst/>
              <a:rect r="r" b="b" t="t" l="l"/>
              <a:pathLst>
                <a:path h="183045" w="635000">
                  <a:moveTo>
                    <a:pt x="41743" y="0"/>
                  </a:moveTo>
                  <a:lnTo>
                    <a:pt x="593257" y="0"/>
                  </a:lnTo>
                  <a:cubicBezTo>
                    <a:pt x="616311" y="0"/>
                    <a:pt x="635000" y="18689"/>
                    <a:pt x="635000" y="41743"/>
                  </a:cubicBezTo>
                  <a:lnTo>
                    <a:pt x="635000" y="141302"/>
                  </a:lnTo>
                  <a:cubicBezTo>
                    <a:pt x="635000" y="164356"/>
                    <a:pt x="616311" y="183045"/>
                    <a:pt x="593257" y="183045"/>
                  </a:cubicBezTo>
                  <a:lnTo>
                    <a:pt x="41743" y="183045"/>
                  </a:lnTo>
                  <a:cubicBezTo>
                    <a:pt x="30672" y="183045"/>
                    <a:pt x="20055" y="178647"/>
                    <a:pt x="12226" y="170819"/>
                  </a:cubicBezTo>
                  <a:cubicBezTo>
                    <a:pt x="4398" y="162990"/>
                    <a:pt x="0" y="152373"/>
                    <a:pt x="0" y="141302"/>
                  </a:cubicBezTo>
                  <a:lnTo>
                    <a:pt x="0" y="41743"/>
                  </a:lnTo>
                  <a:cubicBezTo>
                    <a:pt x="0" y="18689"/>
                    <a:pt x="18689" y="0"/>
                    <a:pt x="41743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35000" cy="22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 SEMANAS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45154" y="216408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301799" y="2795294"/>
            <a:ext cx="1701950" cy="1123287"/>
            <a:chOff x="0" y="0"/>
            <a:chExt cx="635000" cy="419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BURNDOWN CHART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07139" y="2795294"/>
            <a:ext cx="1850546" cy="1123287"/>
            <a:chOff x="0" y="0"/>
            <a:chExt cx="690442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81711" y="0"/>
                  </a:moveTo>
                  <a:lnTo>
                    <a:pt x="608731" y="0"/>
                  </a:lnTo>
                  <a:cubicBezTo>
                    <a:pt x="630402" y="0"/>
                    <a:pt x="651185" y="8609"/>
                    <a:pt x="666509" y="23932"/>
                  </a:cubicBezTo>
                  <a:cubicBezTo>
                    <a:pt x="681833" y="39256"/>
                    <a:pt x="690442" y="60040"/>
                    <a:pt x="690442" y="81711"/>
                  </a:cubicBezTo>
                  <a:lnTo>
                    <a:pt x="690442" y="337389"/>
                  </a:lnTo>
                  <a:cubicBezTo>
                    <a:pt x="690442" y="382517"/>
                    <a:pt x="653859" y="419100"/>
                    <a:pt x="608731" y="419100"/>
                  </a:cubicBezTo>
                  <a:lnTo>
                    <a:pt x="81711" y="419100"/>
                  </a:lnTo>
                  <a:cubicBezTo>
                    <a:pt x="36583" y="419100"/>
                    <a:pt x="0" y="382517"/>
                    <a:pt x="0" y="337389"/>
                  </a:cubicBezTo>
                  <a:lnTo>
                    <a:pt x="0" y="81711"/>
                  </a:lnTo>
                  <a:cubicBezTo>
                    <a:pt x="0" y="36583"/>
                    <a:pt x="36583" y="0"/>
                    <a:pt x="81711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90442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  <a:r>
                <a:rPr lang="en-US" b="true" sz="1300" spc="16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RETROSPECTIVE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913503" y="2795294"/>
            <a:ext cx="1701950" cy="1123287"/>
            <a:chOff x="0" y="0"/>
            <a:chExt cx="635000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DAILY MEETING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301799" y="4159165"/>
            <a:ext cx="1701950" cy="1123287"/>
            <a:chOff x="0" y="0"/>
            <a:chExt cx="635000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IMPEDIMENT LOG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07139" y="4159165"/>
            <a:ext cx="1850546" cy="1123287"/>
            <a:chOff x="0" y="0"/>
            <a:chExt cx="690442" cy="419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81711" y="0"/>
                  </a:moveTo>
                  <a:lnTo>
                    <a:pt x="608731" y="0"/>
                  </a:lnTo>
                  <a:cubicBezTo>
                    <a:pt x="630402" y="0"/>
                    <a:pt x="651185" y="8609"/>
                    <a:pt x="666509" y="23932"/>
                  </a:cubicBezTo>
                  <a:cubicBezTo>
                    <a:pt x="681833" y="39256"/>
                    <a:pt x="690442" y="60040"/>
                    <a:pt x="690442" y="81711"/>
                  </a:cubicBezTo>
                  <a:lnTo>
                    <a:pt x="690442" y="337389"/>
                  </a:lnTo>
                  <a:cubicBezTo>
                    <a:pt x="690442" y="382517"/>
                    <a:pt x="653859" y="419100"/>
                    <a:pt x="608731" y="419100"/>
                  </a:cubicBezTo>
                  <a:lnTo>
                    <a:pt x="81711" y="419100"/>
                  </a:lnTo>
                  <a:cubicBezTo>
                    <a:pt x="36583" y="419100"/>
                    <a:pt x="0" y="382517"/>
                    <a:pt x="0" y="337389"/>
                  </a:cubicBezTo>
                  <a:lnTo>
                    <a:pt x="0" y="81711"/>
                  </a:lnTo>
                  <a:cubicBezTo>
                    <a:pt x="0" y="36583"/>
                    <a:pt x="36583" y="0"/>
                    <a:pt x="81711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90442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REVIEW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913503" y="4159165"/>
            <a:ext cx="1701950" cy="1123287"/>
            <a:chOff x="0" y="0"/>
            <a:chExt cx="635000" cy="419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BACKLOG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992663" y="8066702"/>
            <a:ext cx="2351605" cy="1552059"/>
            <a:chOff x="0" y="0"/>
            <a:chExt cx="635000" cy="419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SEGMENTACIÓN GEOGRÁFICA ESTUDIANTES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178300" y="8066702"/>
            <a:ext cx="2351605" cy="1552059"/>
            <a:chOff x="0" y="0"/>
            <a:chExt cx="635000" cy="419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VISTA UNIFICADA DE COLEGIO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96357" y="8066702"/>
            <a:ext cx="2351605" cy="1552059"/>
            <a:chOff x="0" y="0"/>
            <a:chExt cx="635000" cy="419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VISTA SEGMENTACIÓN POR INDUSTRIA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12087" y="6425771"/>
            <a:ext cx="2351605" cy="1552059"/>
            <a:chOff x="0" y="0"/>
            <a:chExt cx="635000" cy="419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SEGMENTACIÓN ESTUDIANTES TÉCNICOS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12087" y="8147885"/>
            <a:ext cx="2351605" cy="1552059"/>
            <a:chOff x="0" y="0"/>
            <a:chExt cx="635000" cy="419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PRIORIZACIÓN POR CRECIMIENTO DE MATRÍCULA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1717013" y="2554709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4125266" y="395668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6263073" y="395668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125266" y="2554709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1671329" y="391858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263073" y="2554709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4968991" y="8007023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8102415" y="6137502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1669860" y="6093352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4631273" y="6183619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4631273" y="7905733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1715543" y="7934748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8154629" y="7949883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618666" y="111442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Resumen Sprint 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11582" y="229849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Duración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454736" y="5335894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Tareas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04737" y="2087881"/>
            <a:ext cx="16230600" cy="6411087"/>
          </a:xfrm>
          <a:custGeom>
            <a:avLst/>
            <a:gdLst/>
            <a:ahLst/>
            <a:cxnLst/>
            <a:rect r="r" b="b" t="t" l="l"/>
            <a:pathLst>
              <a:path h="6411087" w="16230600">
                <a:moveTo>
                  <a:pt x="0" y="0"/>
                </a:moveTo>
                <a:lnTo>
                  <a:pt x="16230600" y="0"/>
                </a:lnTo>
                <a:lnTo>
                  <a:pt x="16230600" y="6411087"/>
                </a:lnTo>
                <a:lnTo>
                  <a:pt x="0" y="6411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Backlog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8402" y="2087881"/>
            <a:ext cx="15100023" cy="6795010"/>
          </a:xfrm>
          <a:custGeom>
            <a:avLst/>
            <a:gdLst/>
            <a:ahLst/>
            <a:cxnLst/>
            <a:rect r="r" b="b" t="t" l="l"/>
            <a:pathLst>
              <a:path h="6795010" w="15100023">
                <a:moveTo>
                  <a:pt x="0" y="0"/>
                </a:moveTo>
                <a:lnTo>
                  <a:pt x="15100022" y="0"/>
                </a:lnTo>
                <a:lnTo>
                  <a:pt x="15100022" y="6795010"/>
                </a:lnTo>
                <a:lnTo>
                  <a:pt x="0" y="6795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Backlog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81140" y="2395127"/>
            <a:ext cx="17125794" cy="6679060"/>
          </a:xfrm>
          <a:custGeom>
            <a:avLst/>
            <a:gdLst/>
            <a:ahLst/>
            <a:cxnLst/>
            <a:rect r="r" b="b" t="t" l="l"/>
            <a:pathLst>
              <a:path h="6679060" w="17125794">
                <a:moveTo>
                  <a:pt x="0" y="0"/>
                </a:moveTo>
                <a:lnTo>
                  <a:pt x="17125795" y="0"/>
                </a:lnTo>
                <a:lnTo>
                  <a:pt x="17125795" y="6679060"/>
                </a:lnTo>
                <a:lnTo>
                  <a:pt x="0" y="6679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36753" y="1935481"/>
            <a:ext cx="17690979" cy="7045798"/>
          </a:xfrm>
          <a:custGeom>
            <a:avLst/>
            <a:gdLst/>
            <a:ahLst/>
            <a:cxnLst/>
            <a:rect r="r" b="b" t="t" l="l"/>
            <a:pathLst>
              <a:path h="7045798" w="17690979">
                <a:moveTo>
                  <a:pt x="0" y="0"/>
                </a:moveTo>
                <a:lnTo>
                  <a:pt x="17690978" y="0"/>
                </a:lnTo>
                <a:lnTo>
                  <a:pt x="17690978" y="7045797"/>
                </a:lnTo>
                <a:lnTo>
                  <a:pt x="0" y="7045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7" r="0" b="-21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Impediment 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2087881"/>
            <a:ext cx="16230600" cy="1584980"/>
            <a:chOff x="0" y="0"/>
            <a:chExt cx="4274726" cy="4174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417443"/>
            </a:xfrm>
            <a:custGeom>
              <a:avLst/>
              <a:gdLst/>
              <a:ahLst/>
              <a:cxnLst/>
              <a:rect r="r" b="b" t="t" l="l"/>
              <a:pathLst>
                <a:path h="41744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93117"/>
                  </a:lnTo>
                  <a:cubicBezTo>
                    <a:pt x="4274726" y="406552"/>
                    <a:pt x="4263834" y="417443"/>
                    <a:pt x="4250399" y="417443"/>
                  </a:cubicBezTo>
                  <a:lnTo>
                    <a:pt x="24327" y="417443"/>
                  </a:lnTo>
                  <a:cubicBezTo>
                    <a:pt x="17875" y="417443"/>
                    <a:pt x="11687" y="414880"/>
                    <a:pt x="7125" y="410318"/>
                  </a:cubicBezTo>
                  <a:cubicBezTo>
                    <a:pt x="2563" y="405756"/>
                    <a:pt x="0" y="399568"/>
                    <a:pt x="0" y="39311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274726" cy="44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796112"/>
            <a:ext cx="4741747" cy="2225164"/>
            <a:chOff x="0" y="0"/>
            <a:chExt cx="1248855" cy="5860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8855" cy="586051"/>
            </a:xfrm>
            <a:custGeom>
              <a:avLst/>
              <a:gdLst/>
              <a:ahLst/>
              <a:cxnLst/>
              <a:rect r="r" b="b" t="t" l="l"/>
              <a:pathLst>
                <a:path h="586051" w="1248855">
                  <a:moveTo>
                    <a:pt x="83268" y="0"/>
                  </a:moveTo>
                  <a:lnTo>
                    <a:pt x="1165587" y="0"/>
                  </a:lnTo>
                  <a:cubicBezTo>
                    <a:pt x="1211575" y="0"/>
                    <a:pt x="1248855" y="37281"/>
                    <a:pt x="1248855" y="83268"/>
                  </a:cubicBezTo>
                  <a:lnTo>
                    <a:pt x="1248855" y="502783"/>
                  </a:lnTo>
                  <a:cubicBezTo>
                    <a:pt x="1248855" y="548771"/>
                    <a:pt x="1211575" y="586051"/>
                    <a:pt x="1165587" y="586051"/>
                  </a:cubicBezTo>
                  <a:lnTo>
                    <a:pt x="83268" y="586051"/>
                  </a:lnTo>
                  <a:cubicBezTo>
                    <a:pt x="61184" y="586051"/>
                    <a:pt x="40005" y="577278"/>
                    <a:pt x="24389" y="561663"/>
                  </a:cubicBezTo>
                  <a:cubicBezTo>
                    <a:pt x="8773" y="546047"/>
                    <a:pt x="0" y="524867"/>
                    <a:pt x="0" y="502783"/>
                  </a:cubicBezTo>
                  <a:lnTo>
                    <a:pt x="0" y="83268"/>
                  </a:lnTo>
                  <a:cubicBezTo>
                    <a:pt x="0" y="37281"/>
                    <a:pt x="37281" y="0"/>
                    <a:pt x="83268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48855" cy="614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89622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216" y="2319666"/>
            <a:ext cx="15859718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OBJETIVOS DEL SPRINT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 IMPLEMENTAR DASHBOARD INTERACTIVOS QUE SEAN CLAROS Y CONCISOS A LA PLATAFORMA WEB DE ADMISSION ANALYTICS.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540948" y="6227507"/>
            <a:ext cx="3717250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 MÉTRICAS DEL SPRINT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PLANIFICADAS: 15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COMPLETADAS: 15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908611" y="5535445"/>
            <a:ext cx="11276033" cy="1596325"/>
            <a:chOff x="0" y="0"/>
            <a:chExt cx="2969820" cy="4204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69820" cy="420431"/>
            </a:xfrm>
            <a:custGeom>
              <a:avLst/>
              <a:gdLst/>
              <a:ahLst/>
              <a:cxnLst/>
              <a:rect r="r" b="b" t="t" l="l"/>
              <a:pathLst>
                <a:path h="420431" w="2969820">
                  <a:moveTo>
                    <a:pt x="35016" y="0"/>
                  </a:moveTo>
                  <a:lnTo>
                    <a:pt x="2934804" y="0"/>
                  </a:lnTo>
                  <a:cubicBezTo>
                    <a:pt x="2944091" y="0"/>
                    <a:pt x="2952997" y="3689"/>
                    <a:pt x="2959564" y="10256"/>
                  </a:cubicBezTo>
                  <a:cubicBezTo>
                    <a:pt x="2966130" y="16823"/>
                    <a:pt x="2969820" y="25729"/>
                    <a:pt x="2969820" y="35016"/>
                  </a:cubicBezTo>
                  <a:lnTo>
                    <a:pt x="2969820" y="385416"/>
                  </a:lnTo>
                  <a:cubicBezTo>
                    <a:pt x="2969820" y="394702"/>
                    <a:pt x="2966130" y="403609"/>
                    <a:pt x="2959564" y="410175"/>
                  </a:cubicBezTo>
                  <a:cubicBezTo>
                    <a:pt x="2952997" y="416742"/>
                    <a:pt x="2944091" y="420431"/>
                    <a:pt x="2934804" y="420431"/>
                  </a:cubicBezTo>
                  <a:lnTo>
                    <a:pt x="35016" y="420431"/>
                  </a:lnTo>
                  <a:cubicBezTo>
                    <a:pt x="25729" y="420431"/>
                    <a:pt x="16823" y="416742"/>
                    <a:pt x="10256" y="410175"/>
                  </a:cubicBezTo>
                  <a:cubicBezTo>
                    <a:pt x="3689" y="403609"/>
                    <a:pt x="0" y="394702"/>
                    <a:pt x="0" y="385416"/>
                  </a:cubicBezTo>
                  <a:lnTo>
                    <a:pt x="0" y="35016"/>
                  </a:lnTo>
                  <a:cubicBezTo>
                    <a:pt x="0" y="25729"/>
                    <a:pt x="3689" y="16823"/>
                    <a:pt x="10256" y="10256"/>
                  </a:cubicBezTo>
                  <a:cubicBezTo>
                    <a:pt x="16823" y="3689"/>
                    <a:pt x="25729" y="0"/>
                    <a:pt x="35016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969820" cy="44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62975" y="5767537"/>
            <a:ext cx="10878047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POSITIVO: LOS GRÁFICOS MUESTRAN UNA GRAN MEJORA RESPECTO A LOS ANTERIORES, LA INFORMACIÓN ESTA MUCHO MÁS CLARA Y MEJOR DISTRIBUIDA.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0132204" y="4291450"/>
            <a:ext cx="4741747" cy="834420"/>
            <a:chOff x="0" y="0"/>
            <a:chExt cx="1248855" cy="2197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8855" cy="219765"/>
            </a:xfrm>
            <a:custGeom>
              <a:avLst/>
              <a:gdLst/>
              <a:ahLst/>
              <a:cxnLst/>
              <a:rect r="r" b="b" t="t" l="l"/>
              <a:pathLst>
                <a:path h="219765" w="1248855">
                  <a:moveTo>
                    <a:pt x="83268" y="0"/>
                  </a:moveTo>
                  <a:lnTo>
                    <a:pt x="1165587" y="0"/>
                  </a:lnTo>
                  <a:cubicBezTo>
                    <a:pt x="1211575" y="0"/>
                    <a:pt x="1248855" y="37281"/>
                    <a:pt x="1248855" y="83268"/>
                  </a:cubicBezTo>
                  <a:lnTo>
                    <a:pt x="1248855" y="136497"/>
                  </a:lnTo>
                  <a:cubicBezTo>
                    <a:pt x="1248855" y="158581"/>
                    <a:pt x="1240082" y="179760"/>
                    <a:pt x="1224466" y="195376"/>
                  </a:cubicBezTo>
                  <a:cubicBezTo>
                    <a:pt x="1208851" y="210992"/>
                    <a:pt x="1187671" y="219765"/>
                    <a:pt x="1165587" y="219765"/>
                  </a:cubicBezTo>
                  <a:lnTo>
                    <a:pt x="83268" y="219765"/>
                  </a:lnTo>
                  <a:cubicBezTo>
                    <a:pt x="37281" y="219765"/>
                    <a:pt x="0" y="182484"/>
                    <a:pt x="0" y="136497"/>
                  </a:cubicBezTo>
                  <a:lnTo>
                    <a:pt x="0" y="83268"/>
                  </a:lnTo>
                  <a:cubicBezTo>
                    <a:pt x="0" y="37281"/>
                    <a:pt x="37281" y="0"/>
                    <a:pt x="83268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48855" cy="248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55899" y="4579922"/>
            <a:ext cx="415242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FEEDBACK DEL PRODUCT OWNER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79577" y="7497926"/>
            <a:ext cx="11276033" cy="691120"/>
            <a:chOff x="0" y="0"/>
            <a:chExt cx="2969820" cy="1820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69820" cy="182023"/>
            </a:xfrm>
            <a:custGeom>
              <a:avLst/>
              <a:gdLst/>
              <a:ahLst/>
              <a:cxnLst/>
              <a:rect r="r" b="b" t="t" l="l"/>
              <a:pathLst>
                <a:path h="182023" w="2969820">
                  <a:moveTo>
                    <a:pt x="35016" y="0"/>
                  </a:moveTo>
                  <a:lnTo>
                    <a:pt x="2934804" y="0"/>
                  </a:lnTo>
                  <a:cubicBezTo>
                    <a:pt x="2944091" y="0"/>
                    <a:pt x="2952997" y="3689"/>
                    <a:pt x="2959564" y="10256"/>
                  </a:cubicBezTo>
                  <a:cubicBezTo>
                    <a:pt x="2966130" y="16823"/>
                    <a:pt x="2969820" y="25729"/>
                    <a:pt x="2969820" y="35016"/>
                  </a:cubicBezTo>
                  <a:lnTo>
                    <a:pt x="2969820" y="147008"/>
                  </a:lnTo>
                  <a:cubicBezTo>
                    <a:pt x="2969820" y="156294"/>
                    <a:pt x="2966130" y="165201"/>
                    <a:pt x="2959564" y="171767"/>
                  </a:cubicBezTo>
                  <a:cubicBezTo>
                    <a:pt x="2952997" y="178334"/>
                    <a:pt x="2944091" y="182023"/>
                    <a:pt x="2934804" y="182023"/>
                  </a:cubicBezTo>
                  <a:lnTo>
                    <a:pt x="35016" y="182023"/>
                  </a:lnTo>
                  <a:cubicBezTo>
                    <a:pt x="25729" y="182023"/>
                    <a:pt x="16823" y="178334"/>
                    <a:pt x="10256" y="171767"/>
                  </a:cubicBezTo>
                  <a:cubicBezTo>
                    <a:pt x="3689" y="165201"/>
                    <a:pt x="0" y="156294"/>
                    <a:pt x="0" y="147008"/>
                  </a:cubicBezTo>
                  <a:lnTo>
                    <a:pt x="0" y="35016"/>
                  </a:lnTo>
                  <a:cubicBezTo>
                    <a:pt x="0" y="25729"/>
                    <a:pt x="3689" y="16823"/>
                    <a:pt x="10256" y="10256"/>
                  </a:cubicBezTo>
                  <a:cubicBezTo>
                    <a:pt x="16823" y="3689"/>
                    <a:pt x="25729" y="0"/>
                    <a:pt x="35016" y="0"/>
                  </a:cubicBezTo>
                  <a:close/>
                </a:path>
              </a:pathLst>
            </a:custGeom>
            <a:solidFill>
              <a:srgbClr val="E0666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969820" cy="21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43159" y="7559005"/>
            <a:ext cx="1144484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MEJORAR: LOS FILTROS PUEDEN PRESENTAR ALGUNAS MEJORAS, EN ESPECIAL EL RESTABLECIMIENTO DE ESTOS. YA QUE NO FUNCIONA CON TODOS.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1271" y="3481663"/>
            <a:ext cx="13645457" cy="166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b="true" sz="124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Iteración Sprint 3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15051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18666" y="1114425"/>
            <a:ext cx="9152907" cy="80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Resumen Sprint 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8197" y="6500696"/>
            <a:ext cx="2351605" cy="1552059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FILTRADO Y COMPARACIÓN DE MATRÍCULAS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43514" y="6500696"/>
            <a:ext cx="2351605" cy="1552059"/>
            <a:chOff x="0" y="0"/>
            <a:chExt cx="635000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FILTRO GEOGRÁFICO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30246" y="6500696"/>
            <a:ext cx="2351605" cy="1552059"/>
            <a:chOff x="0" y="0"/>
            <a:chExt cx="635000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HISTORIAL DE VISITAS A COLEGIOS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677382" y="6168277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11582" y="229849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Duración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88874" y="5596777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Tareas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055757" y="3173937"/>
            <a:ext cx="3622400" cy="1044191"/>
            <a:chOff x="0" y="0"/>
            <a:chExt cx="635000" cy="1830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183045"/>
            </a:xfrm>
            <a:custGeom>
              <a:avLst/>
              <a:gdLst/>
              <a:ahLst/>
              <a:cxnLst/>
              <a:rect r="r" b="b" t="t" l="l"/>
              <a:pathLst>
                <a:path h="183045" w="635000">
                  <a:moveTo>
                    <a:pt x="41743" y="0"/>
                  </a:moveTo>
                  <a:lnTo>
                    <a:pt x="593257" y="0"/>
                  </a:lnTo>
                  <a:cubicBezTo>
                    <a:pt x="616311" y="0"/>
                    <a:pt x="635000" y="18689"/>
                    <a:pt x="635000" y="41743"/>
                  </a:cubicBezTo>
                  <a:lnTo>
                    <a:pt x="635000" y="141302"/>
                  </a:lnTo>
                  <a:cubicBezTo>
                    <a:pt x="635000" y="164356"/>
                    <a:pt x="616311" y="183045"/>
                    <a:pt x="593257" y="183045"/>
                  </a:cubicBezTo>
                  <a:lnTo>
                    <a:pt x="41743" y="183045"/>
                  </a:lnTo>
                  <a:cubicBezTo>
                    <a:pt x="30672" y="183045"/>
                    <a:pt x="20055" y="178647"/>
                    <a:pt x="12226" y="170819"/>
                  </a:cubicBezTo>
                  <a:cubicBezTo>
                    <a:pt x="4398" y="162990"/>
                    <a:pt x="0" y="152373"/>
                    <a:pt x="0" y="141302"/>
                  </a:cubicBezTo>
                  <a:lnTo>
                    <a:pt x="0" y="41743"/>
                  </a:lnTo>
                  <a:cubicBezTo>
                    <a:pt x="0" y="18689"/>
                    <a:pt x="18689" y="0"/>
                    <a:pt x="41743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5000" cy="22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 SEMANAS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845154" y="216408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301799" y="2795294"/>
            <a:ext cx="1701950" cy="1123287"/>
            <a:chOff x="0" y="0"/>
            <a:chExt cx="635000" cy="419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BURNDOWN CHART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607139" y="2795294"/>
            <a:ext cx="1850546" cy="1123287"/>
            <a:chOff x="0" y="0"/>
            <a:chExt cx="690442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81711" y="0"/>
                  </a:moveTo>
                  <a:lnTo>
                    <a:pt x="608731" y="0"/>
                  </a:lnTo>
                  <a:cubicBezTo>
                    <a:pt x="630402" y="0"/>
                    <a:pt x="651185" y="8609"/>
                    <a:pt x="666509" y="23932"/>
                  </a:cubicBezTo>
                  <a:cubicBezTo>
                    <a:pt x="681833" y="39256"/>
                    <a:pt x="690442" y="60040"/>
                    <a:pt x="690442" y="81711"/>
                  </a:cubicBezTo>
                  <a:lnTo>
                    <a:pt x="690442" y="337389"/>
                  </a:lnTo>
                  <a:cubicBezTo>
                    <a:pt x="690442" y="382517"/>
                    <a:pt x="653859" y="419100"/>
                    <a:pt x="608731" y="419100"/>
                  </a:cubicBezTo>
                  <a:lnTo>
                    <a:pt x="81711" y="419100"/>
                  </a:lnTo>
                  <a:cubicBezTo>
                    <a:pt x="36583" y="419100"/>
                    <a:pt x="0" y="382517"/>
                    <a:pt x="0" y="337389"/>
                  </a:cubicBezTo>
                  <a:lnTo>
                    <a:pt x="0" y="81711"/>
                  </a:lnTo>
                  <a:cubicBezTo>
                    <a:pt x="0" y="36583"/>
                    <a:pt x="36583" y="0"/>
                    <a:pt x="81711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90442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  <a:r>
                <a:rPr lang="en-US" b="true" sz="1300" spc="16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RETROSPECTIVE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913503" y="2795294"/>
            <a:ext cx="1701950" cy="1123287"/>
            <a:chOff x="0" y="0"/>
            <a:chExt cx="635000" cy="419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DAILY MEETING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01799" y="4159165"/>
            <a:ext cx="1701950" cy="1123287"/>
            <a:chOff x="0" y="0"/>
            <a:chExt cx="635000" cy="419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IMPEDIMENT LOG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07139" y="4159165"/>
            <a:ext cx="1850546" cy="1123287"/>
            <a:chOff x="0" y="0"/>
            <a:chExt cx="690442" cy="4191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81711" y="0"/>
                  </a:moveTo>
                  <a:lnTo>
                    <a:pt x="608731" y="0"/>
                  </a:lnTo>
                  <a:cubicBezTo>
                    <a:pt x="630402" y="0"/>
                    <a:pt x="651185" y="8609"/>
                    <a:pt x="666509" y="23932"/>
                  </a:cubicBezTo>
                  <a:cubicBezTo>
                    <a:pt x="681833" y="39256"/>
                    <a:pt x="690442" y="60040"/>
                    <a:pt x="690442" y="81711"/>
                  </a:cubicBezTo>
                  <a:lnTo>
                    <a:pt x="690442" y="337389"/>
                  </a:lnTo>
                  <a:cubicBezTo>
                    <a:pt x="690442" y="382517"/>
                    <a:pt x="653859" y="419100"/>
                    <a:pt x="608731" y="419100"/>
                  </a:cubicBezTo>
                  <a:lnTo>
                    <a:pt x="81711" y="419100"/>
                  </a:lnTo>
                  <a:cubicBezTo>
                    <a:pt x="36583" y="419100"/>
                    <a:pt x="0" y="382517"/>
                    <a:pt x="0" y="337389"/>
                  </a:cubicBezTo>
                  <a:lnTo>
                    <a:pt x="0" y="81711"/>
                  </a:lnTo>
                  <a:cubicBezTo>
                    <a:pt x="0" y="36583"/>
                    <a:pt x="36583" y="0"/>
                    <a:pt x="81711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690442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REVIEW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913503" y="4159165"/>
            <a:ext cx="1701950" cy="1123287"/>
            <a:chOff x="0" y="0"/>
            <a:chExt cx="635000" cy="419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BACKLOG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332578" y="8358358"/>
            <a:ext cx="2351605" cy="1552059"/>
            <a:chOff x="0" y="0"/>
            <a:chExt cx="635000" cy="419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LOGS DE SEGURIDAD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945976" y="6500696"/>
            <a:ext cx="2351605" cy="1552059"/>
            <a:chOff x="0" y="0"/>
            <a:chExt cx="635000" cy="419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REGISTRO DE VISITAS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8803433" y="624946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1925721" y="624946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4902984" y="624946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291082" y="8159288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1717013" y="2554709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1671329" y="3857722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6223486" y="395668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6223486" y="2554709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121779" y="2692098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121779" y="395668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04984" y="2224051"/>
            <a:ext cx="15678032" cy="6114433"/>
          </a:xfrm>
          <a:custGeom>
            <a:avLst/>
            <a:gdLst/>
            <a:ahLst/>
            <a:cxnLst/>
            <a:rect r="r" b="b" t="t" l="l"/>
            <a:pathLst>
              <a:path h="6114433" w="15678032">
                <a:moveTo>
                  <a:pt x="0" y="0"/>
                </a:moveTo>
                <a:lnTo>
                  <a:pt x="15678032" y="0"/>
                </a:lnTo>
                <a:lnTo>
                  <a:pt x="15678032" y="6114432"/>
                </a:lnTo>
                <a:lnTo>
                  <a:pt x="0" y="611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Backlog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26966" y="1935481"/>
            <a:ext cx="16834068" cy="7322819"/>
          </a:xfrm>
          <a:custGeom>
            <a:avLst/>
            <a:gdLst/>
            <a:ahLst/>
            <a:cxnLst/>
            <a:rect r="r" b="b" t="t" l="l"/>
            <a:pathLst>
              <a:path h="7322819" w="16834068">
                <a:moveTo>
                  <a:pt x="0" y="0"/>
                </a:moveTo>
                <a:lnTo>
                  <a:pt x="16834068" y="0"/>
                </a:lnTo>
                <a:lnTo>
                  <a:pt x="16834068" y="7322819"/>
                </a:lnTo>
                <a:lnTo>
                  <a:pt x="0" y="7322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81140" y="2317333"/>
            <a:ext cx="17125720" cy="5394602"/>
          </a:xfrm>
          <a:custGeom>
            <a:avLst/>
            <a:gdLst/>
            <a:ahLst/>
            <a:cxnLst/>
            <a:rect r="r" b="b" t="t" l="l"/>
            <a:pathLst>
              <a:path h="5394602" w="17125720">
                <a:moveTo>
                  <a:pt x="0" y="0"/>
                </a:moveTo>
                <a:lnTo>
                  <a:pt x="17125720" y="0"/>
                </a:lnTo>
                <a:lnTo>
                  <a:pt x="17125720" y="5394602"/>
                </a:lnTo>
                <a:lnTo>
                  <a:pt x="0" y="5394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Impediment 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2087881"/>
            <a:ext cx="16230600" cy="1584980"/>
            <a:chOff x="0" y="0"/>
            <a:chExt cx="4274726" cy="4174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417443"/>
            </a:xfrm>
            <a:custGeom>
              <a:avLst/>
              <a:gdLst/>
              <a:ahLst/>
              <a:cxnLst/>
              <a:rect r="r" b="b" t="t" l="l"/>
              <a:pathLst>
                <a:path h="41744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93117"/>
                  </a:lnTo>
                  <a:cubicBezTo>
                    <a:pt x="4274726" y="406552"/>
                    <a:pt x="4263834" y="417443"/>
                    <a:pt x="4250399" y="417443"/>
                  </a:cubicBezTo>
                  <a:lnTo>
                    <a:pt x="24327" y="417443"/>
                  </a:lnTo>
                  <a:cubicBezTo>
                    <a:pt x="17875" y="417443"/>
                    <a:pt x="11687" y="414880"/>
                    <a:pt x="7125" y="410318"/>
                  </a:cubicBezTo>
                  <a:cubicBezTo>
                    <a:pt x="2563" y="405756"/>
                    <a:pt x="0" y="399568"/>
                    <a:pt x="0" y="39311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274726" cy="44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796112"/>
            <a:ext cx="4741747" cy="2225164"/>
            <a:chOff x="0" y="0"/>
            <a:chExt cx="1248855" cy="5860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8855" cy="586051"/>
            </a:xfrm>
            <a:custGeom>
              <a:avLst/>
              <a:gdLst/>
              <a:ahLst/>
              <a:cxnLst/>
              <a:rect r="r" b="b" t="t" l="l"/>
              <a:pathLst>
                <a:path h="586051" w="1248855">
                  <a:moveTo>
                    <a:pt x="83268" y="0"/>
                  </a:moveTo>
                  <a:lnTo>
                    <a:pt x="1165587" y="0"/>
                  </a:lnTo>
                  <a:cubicBezTo>
                    <a:pt x="1211575" y="0"/>
                    <a:pt x="1248855" y="37281"/>
                    <a:pt x="1248855" y="83268"/>
                  </a:cubicBezTo>
                  <a:lnTo>
                    <a:pt x="1248855" y="502783"/>
                  </a:lnTo>
                  <a:cubicBezTo>
                    <a:pt x="1248855" y="548771"/>
                    <a:pt x="1211575" y="586051"/>
                    <a:pt x="1165587" y="586051"/>
                  </a:cubicBezTo>
                  <a:lnTo>
                    <a:pt x="83268" y="586051"/>
                  </a:lnTo>
                  <a:cubicBezTo>
                    <a:pt x="61184" y="586051"/>
                    <a:pt x="40005" y="577278"/>
                    <a:pt x="24389" y="561663"/>
                  </a:cubicBezTo>
                  <a:cubicBezTo>
                    <a:pt x="8773" y="546047"/>
                    <a:pt x="0" y="524867"/>
                    <a:pt x="0" y="502783"/>
                  </a:cubicBezTo>
                  <a:lnTo>
                    <a:pt x="0" y="83268"/>
                  </a:lnTo>
                  <a:cubicBezTo>
                    <a:pt x="0" y="37281"/>
                    <a:pt x="37281" y="0"/>
                    <a:pt x="83268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48855" cy="614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89622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216" y="2319666"/>
            <a:ext cx="15859718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OBJETIVOS DEL SPRINT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 MEJORAR LA INTERACCIÓN CON LOS DASHBOARD DE POWER BI Y CREAR HERRAMIENTAS AYUDAR A LA ORGANIZACIÓN Y PLANEACIÓN DE ADMISIÓN.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598753" y="6227507"/>
            <a:ext cx="3601641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 MÉTRICAS DEL SPRINT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PLANIFICADAS: 5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COMPLETADAS: 5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780657" y="5535445"/>
            <a:ext cx="11403987" cy="1324927"/>
            <a:chOff x="0" y="0"/>
            <a:chExt cx="3003519" cy="3489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03519" cy="348952"/>
            </a:xfrm>
            <a:custGeom>
              <a:avLst/>
              <a:gdLst/>
              <a:ahLst/>
              <a:cxnLst/>
              <a:rect r="r" b="b" t="t" l="l"/>
              <a:pathLst>
                <a:path h="348952" w="3003519">
                  <a:moveTo>
                    <a:pt x="34623" y="0"/>
                  </a:moveTo>
                  <a:lnTo>
                    <a:pt x="2968896" y="0"/>
                  </a:lnTo>
                  <a:cubicBezTo>
                    <a:pt x="2988018" y="0"/>
                    <a:pt x="3003519" y="15501"/>
                    <a:pt x="3003519" y="34623"/>
                  </a:cubicBezTo>
                  <a:lnTo>
                    <a:pt x="3003519" y="314329"/>
                  </a:lnTo>
                  <a:cubicBezTo>
                    <a:pt x="3003519" y="323512"/>
                    <a:pt x="2999871" y="332318"/>
                    <a:pt x="2993378" y="338811"/>
                  </a:cubicBezTo>
                  <a:cubicBezTo>
                    <a:pt x="2986885" y="345304"/>
                    <a:pt x="2978079" y="348952"/>
                    <a:pt x="2968896" y="348952"/>
                  </a:cubicBezTo>
                  <a:lnTo>
                    <a:pt x="34623" y="348952"/>
                  </a:lnTo>
                  <a:cubicBezTo>
                    <a:pt x="25440" y="348952"/>
                    <a:pt x="16634" y="345304"/>
                    <a:pt x="10141" y="338811"/>
                  </a:cubicBezTo>
                  <a:cubicBezTo>
                    <a:pt x="3648" y="332318"/>
                    <a:pt x="0" y="323512"/>
                    <a:pt x="0" y="314329"/>
                  </a:cubicBezTo>
                  <a:lnTo>
                    <a:pt x="0" y="34623"/>
                  </a:lnTo>
                  <a:cubicBezTo>
                    <a:pt x="0" y="25440"/>
                    <a:pt x="3648" y="16634"/>
                    <a:pt x="10141" y="10141"/>
                  </a:cubicBezTo>
                  <a:cubicBezTo>
                    <a:pt x="16634" y="3648"/>
                    <a:pt x="25440" y="0"/>
                    <a:pt x="34623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003519" cy="377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62975" y="5767537"/>
            <a:ext cx="10878047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POSITIVO: EL HISTORIAL DE VISITAS A COLEGIOS ES SIMPLE Y ÚTIL. ME GUSTO.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0132204" y="4291450"/>
            <a:ext cx="4741747" cy="834420"/>
            <a:chOff x="0" y="0"/>
            <a:chExt cx="1248855" cy="2197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8855" cy="219765"/>
            </a:xfrm>
            <a:custGeom>
              <a:avLst/>
              <a:gdLst/>
              <a:ahLst/>
              <a:cxnLst/>
              <a:rect r="r" b="b" t="t" l="l"/>
              <a:pathLst>
                <a:path h="219765" w="1248855">
                  <a:moveTo>
                    <a:pt x="83268" y="0"/>
                  </a:moveTo>
                  <a:lnTo>
                    <a:pt x="1165587" y="0"/>
                  </a:lnTo>
                  <a:cubicBezTo>
                    <a:pt x="1211575" y="0"/>
                    <a:pt x="1248855" y="37281"/>
                    <a:pt x="1248855" y="83268"/>
                  </a:cubicBezTo>
                  <a:lnTo>
                    <a:pt x="1248855" y="136497"/>
                  </a:lnTo>
                  <a:cubicBezTo>
                    <a:pt x="1248855" y="158581"/>
                    <a:pt x="1240082" y="179760"/>
                    <a:pt x="1224466" y="195376"/>
                  </a:cubicBezTo>
                  <a:cubicBezTo>
                    <a:pt x="1208851" y="210992"/>
                    <a:pt x="1187671" y="219765"/>
                    <a:pt x="1165587" y="219765"/>
                  </a:cubicBezTo>
                  <a:lnTo>
                    <a:pt x="83268" y="219765"/>
                  </a:lnTo>
                  <a:cubicBezTo>
                    <a:pt x="37281" y="219765"/>
                    <a:pt x="0" y="182484"/>
                    <a:pt x="0" y="136497"/>
                  </a:cubicBezTo>
                  <a:lnTo>
                    <a:pt x="0" y="83268"/>
                  </a:lnTo>
                  <a:cubicBezTo>
                    <a:pt x="0" y="37281"/>
                    <a:pt x="37281" y="0"/>
                    <a:pt x="83268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48855" cy="248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55899" y="4579922"/>
            <a:ext cx="415242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FEEDBACK DEL PRODUCT OWNER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747063" y="7269947"/>
            <a:ext cx="11540937" cy="919098"/>
            <a:chOff x="0" y="0"/>
            <a:chExt cx="3039588" cy="2420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39588" cy="242067"/>
            </a:xfrm>
            <a:custGeom>
              <a:avLst/>
              <a:gdLst/>
              <a:ahLst/>
              <a:cxnLst/>
              <a:rect r="r" b="b" t="t" l="l"/>
              <a:pathLst>
                <a:path h="242067" w="3039588">
                  <a:moveTo>
                    <a:pt x="34212" y="0"/>
                  </a:moveTo>
                  <a:lnTo>
                    <a:pt x="3005376" y="0"/>
                  </a:lnTo>
                  <a:cubicBezTo>
                    <a:pt x="3024271" y="0"/>
                    <a:pt x="3039588" y="15317"/>
                    <a:pt x="3039588" y="34212"/>
                  </a:cubicBezTo>
                  <a:lnTo>
                    <a:pt x="3039588" y="207855"/>
                  </a:lnTo>
                  <a:cubicBezTo>
                    <a:pt x="3039588" y="216929"/>
                    <a:pt x="3035984" y="225630"/>
                    <a:pt x="3029568" y="232046"/>
                  </a:cubicBezTo>
                  <a:cubicBezTo>
                    <a:pt x="3023152" y="238462"/>
                    <a:pt x="3014450" y="242067"/>
                    <a:pt x="3005376" y="242067"/>
                  </a:cubicBezTo>
                  <a:lnTo>
                    <a:pt x="34212" y="242067"/>
                  </a:lnTo>
                  <a:cubicBezTo>
                    <a:pt x="15317" y="242067"/>
                    <a:pt x="0" y="226750"/>
                    <a:pt x="0" y="207855"/>
                  </a:cubicBezTo>
                  <a:lnTo>
                    <a:pt x="0" y="34212"/>
                  </a:lnTo>
                  <a:cubicBezTo>
                    <a:pt x="0" y="15317"/>
                    <a:pt x="15317" y="0"/>
                    <a:pt x="34212" y="0"/>
                  </a:cubicBezTo>
                  <a:close/>
                </a:path>
              </a:pathLst>
            </a:custGeom>
            <a:solidFill>
              <a:srgbClr val="E0666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039588" cy="270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80657" y="7498547"/>
            <a:ext cx="1144484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MEJORAR: LOS FILTROS DE LOS REGISTROS SE PODRÍAN IMPLEMENTAR AL MOMENTO DE SELECCIONARLOS Y ME GUSTARÍA EDITAR LOS DATOS DE LAS VISITAS.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1271" y="3481663"/>
            <a:ext cx="13645457" cy="166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b="true" sz="124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Iteración Sprint 4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15051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18666" y="111442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Resumen Sprint 4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502355" y="6581879"/>
            <a:ext cx="2351605" cy="1552059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EXPORTACIÓN DE REPORTES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19317" y="6581879"/>
            <a:ext cx="2351605" cy="1552059"/>
            <a:chOff x="0" y="0"/>
            <a:chExt cx="635000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MODIFICACIÓN A VISITAS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1582" y="229849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Duración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88874" y="5596777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Tareas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055757" y="3173937"/>
            <a:ext cx="3622400" cy="1044191"/>
            <a:chOff x="0" y="0"/>
            <a:chExt cx="635000" cy="1830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" cy="183045"/>
            </a:xfrm>
            <a:custGeom>
              <a:avLst/>
              <a:gdLst/>
              <a:ahLst/>
              <a:cxnLst/>
              <a:rect r="r" b="b" t="t" l="l"/>
              <a:pathLst>
                <a:path h="183045" w="635000">
                  <a:moveTo>
                    <a:pt x="41743" y="0"/>
                  </a:moveTo>
                  <a:lnTo>
                    <a:pt x="593257" y="0"/>
                  </a:lnTo>
                  <a:cubicBezTo>
                    <a:pt x="616311" y="0"/>
                    <a:pt x="635000" y="18689"/>
                    <a:pt x="635000" y="41743"/>
                  </a:cubicBezTo>
                  <a:lnTo>
                    <a:pt x="635000" y="141302"/>
                  </a:lnTo>
                  <a:cubicBezTo>
                    <a:pt x="635000" y="164356"/>
                    <a:pt x="616311" y="183045"/>
                    <a:pt x="593257" y="183045"/>
                  </a:cubicBezTo>
                  <a:lnTo>
                    <a:pt x="41743" y="183045"/>
                  </a:lnTo>
                  <a:cubicBezTo>
                    <a:pt x="30672" y="183045"/>
                    <a:pt x="20055" y="178647"/>
                    <a:pt x="12226" y="170819"/>
                  </a:cubicBezTo>
                  <a:cubicBezTo>
                    <a:pt x="4398" y="162990"/>
                    <a:pt x="0" y="152373"/>
                    <a:pt x="0" y="141302"/>
                  </a:cubicBezTo>
                  <a:lnTo>
                    <a:pt x="0" y="41743"/>
                  </a:lnTo>
                  <a:cubicBezTo>
                    <a:pt x="0" y="18689"/>
                    <a:pt x="18689" y="0"/>
                    <a:pt x="41743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35000" cy="22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23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 SEMANAS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45154" y="2164081"/>
            <a:ext cx="6710751" cy="58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4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301799" y="2795294"/>
            <a:ext cx="1701950" cy="1123287"/>
            <a:chOff x="0" y="0"/>
            <a:chExt cx="635000" cy="419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BURNDOWN CHART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07139" y="2795294"/>
            <a:ext cx="1850546" cy="1123287"/>
            <a:chOff x="0" y="0"/>
            <a:chExt cx="690442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81711" y="0"/>
                  </a:moveTo>
                  <a:lnTo>
                    <a:pt x="608731" y="0"/>
                  </a:lnTo>
                  <a:cubicBezTo>
                    <a:pt x="630402" y="0"/>
                    <a:pt x="651185" y="8609"/>
                    <a:pt x="666509" y="23932"/>
                  </a:cubicBezTo>
                  <a:cubicBezTo>
                    <a:pt x="681833" y="39256"/>
                    <a:pt x="690442" y="60040"/>
                    <a:pt x="690442" y="81711"/>
                  </a:cubicBezTo>
                  <a:lnTo>
                    <a:pt x="690442" y="337389"/>
                  </a:lnTo>
                  <a:cubicBezTo>
                    <a:pt x="690442" y="382517"/>
                    <a:pt x="653859" y="419100"/>
                    <a:pt x="608731" y="419100"/>
                  </a:cubicBezTo>
                  <a:lnTo>
                    <a:pt x="81711" y="419100"/>
                  </a:lnTo>
                  <a:cubicBezTo>
                    <a:pt x="36583" y="419100"/>
                    <a:pt x="0" y="382517"/>
                    <a:pt x="0" y="337389"/>
                  </a:cubicBezTo>
                  <a:lnTo>
                    <a:pt x="0" y="81711"/>
                  </a:lnTo>
                  <a:cubicBezTo>
                    <a:pt x="0" y="36583"/>
                    <a:pt x="36583" y="0"/>
                    <a:pt x="81711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90442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  <a:r>
                <a:rPr lang="en-US" b="true" sz="1300" spc="16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RETROSPECTIVE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913503" y="2795294"/>
            <a:ext cx="1701950" cy="1123287"/>
            <a:chOff x="0" y="0"/>
            <a:chExt cx="635000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DAILY MEETING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49079" y="4159165"/>
            <a:ext cx="1850546" cy="1123287"/>
            <a:chOff x="0" y="0"/>
            <a:chExt cx="690442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0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90442">
                  <a:moveTo>
                    <a:pt x="81711" y="0"/>
                  </a:moveTo>
                  <a:lnTo>
                    <a:pt x="608731" y="0"/>
                  </a:lnTo>
                  <a:cubicBezTo>
                    <a:pt x="630402" y="0"/>
                    <a:pt x="651185" y="8609"/>
                    <a:pt x="666509" y="23932"/>
                  </a:cubicBezTo>
                  <a:cubicBezTo>
                    <a:pt x="681833" y="39256"/>
                    <a:pt x="690442" y="60040"/>
                    <a:pt x="690442" y="81711"/>
                  </a:cubicBezTo>
                  <a:lnTo>
                    <a:pt x="690442" y="337389"/>
                  </a:lnTo>
                  <a:cubicBezTo>
                    <a:pt x="690442" y="382517"/>
                    <a:pt x="653859" y="419100"/>
                    <a:pt x="608731" y="419100"/>
                  </a:cubicBezTo>
                  <a:lnTo>
                    <a:pt x="81711" y="419100"/>
                  </a:lnTo>
                  <a:cubicBezTo>
                    <a:pt x="36583" y="419100"/>
                    <a:pt x="0" y="382517"/>
                    <a:pt x="0" y="337389"/>
                  </a:cubicBezTo>
                  <a:lnTo>
                    <a:pt x="0" y="81711"/>
                  </a:lnTo>
                  <a:cubicBezTo>
                    <a:pt x="0" y="36583"/>
                    <a:pt x="36583" y="0"/>
                    <a:pt x="81711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690442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REVIEW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904726" y="4159165"/>
            <a:ext cx="1701950" cy="1123287"/>
            <a:chOff x="0" y="0"/>
            <a:chExt cx="635000" cy="419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88845" y="0"/>
                  </a:moveTo>
                  <a:lnTo>
                    <a:pt x="546155" y="0"/>
                  </a:lnTo>
                  <a:cubicBezTo>
                    <a:pt x="569718" y="0"/>
                    <a:pt x="592316" y="9360"/>
                    <a:pt x="608978" y="26022"/>
                  </a:cubicBezTo>
                  <a:cubicBezTo>
                    <a:pt x="625640" y="42684"/>
                    <a:pt x="635000" y="65282"/>
                    <a:pt x="635000" y="88845"/>
                  </a:cubicBezTo>
                  <a:lnTo>
                    <a:pt x="635000" y="330255"/>
                  </a:lnTo>
                  <a:cubicBezTo>
                    <a:pt x="635000" y="353818"/>
                    <a:pt x="625640" y="376416"/>
                    <a:pt x="608978" y="393078"/>
                  </a:cubicBezTo>
                  <a:cubicBezTo>
                    <a:pt x="592316" y="409740"/>
                    <a:pt x="569718" y="419100"/>
                    <a:pt x="546155" y="419100"/>
                  </a:cubicBezTo>
                  <a:lnTo>
                    <a:pt x="88845" y="419100"/>
                  </a:lnTo>
                  <a:cubicBezTo>
                    <a:pt x="65282" y="419100"/>
                    <a:pt x="42684" y="409740"/>
                    <a:pt x="26022" y="393078"/>
                  </a:cubicBezTo>
                  <a:cubicBezTo>
                    <a:pt x="9360" y="376416"/>
                    <a:pt x="0" y="353818"/>
                    <a:pt x="0" y="330255"/>
                  </a:cubicBezTo>
                  <a:lnTo>
                    <a:pt x="0" y="88845"/>
                  </a:lnTo>
                  <a:cubicBezTo>
                    <a:pt x="0" y="65282"/>
                    <a:pt x="9360" y="42684"/>
                    <a:pt x="26022" y="26022"/>
                  </a:cubicBezTo>
                  <a:cubicBezTo>
                    <a:pt x="42684" y="9360"/>
                    <a:pt x="65282" y="0"/>
                    <a:pt x="88845" y="0"/>
                  </a:cubicBezTo>
                  <a:close/>
                </a:path>
              </a:pathLst>
            </a:custGeom>
            <a:solidFill>
              <a:srgbClr val="FFDD7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 spc="17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SPRINT BACKLOG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31336" y="6581879"/>
            <a:ext cx="2351605" cy="1552059"/>
            <a:chOff x="0" y="0"/>
            <a:chExt cx="635000" cy="419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4300" y="0"/>
                  </a:moveTo>
                  <a:lnTo>
                    <a:pt x="570700" y="0"/>
                  </a:lnTo>
                  <a:cubicBezTo>
                    <a:pt x="606212" y="0"/>
                    <a:pt x="635000" y="28788"/>
                    <a:pt x="635000" y="64300"/>
                  </a:cubicBezTo>
                  <a:lnTo>
                    <a:pt x="635000" y="354800"/>
                  </a:lnTo>
                  <a:cubicBezTo>
                    <a:pt x="635000" y="390312"/>
                    <a:pt x="606212" y="419100"/>
                    <a:pt x="570700" y="419100"/>
                  </a:cubicBezTo>
                  <a:lnTo>
                    <a:pt x="64300" y="419100"/>
                  </a:lnTo>
                  <a:cubicBezTo>
                    <a:pt x="28788" y="419100"/>
                    <a:pt x="0" y="390312"/>
                    <a:pt x="0" y="354800"/>
                  </a:cubicBezTo>
                  <a:lnTo>
                    <a:pt x="0" y="64300"/>
                  </a:lnTo>
                  <a:cubicBezTo>
                    <a:pt x="0" y="28788"/>
                    <a:pt x="28788" y="0"/>
                    <a:pt x="64300" y="0"/>
                  </a:cubicBezTo>
                  <a:close/>
                </a:path>
              </a:pathLst>
            </a:custGeom>
            <a:solidFill>
              <a:srgbClr val="FFB71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35000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 spc="20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DOCUMENTACIÓN DEL PROYECTO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0038502" y="6356863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450522" y="6356863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521540" y="624946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717013" y="2554709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274256" y="3978755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223486" y="2554709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8"/>
                </a:lnTo>
                <a:lnTo>
                  <a:pt x="0" y="66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121779" y="2692098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8" y="0"/>
                </a:lnTo>
                <a:lnTo>
                  <a:pt x="664838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607139" y="3956680"/>
            <a:ext cx="664839" cy="664839"/>
          </a:xfrm>
          <a:custGeom>
            <a:avLst/>
            <a:gdLst/>
            <a:ahLst/>
            <a:cxnLst/>
            <a:rect r="r" b="b" t="t" l="l"/>
            <a:pathLst>
              <a:path h="664839" w="664839">
                <a:moveTo>
                  <a:pt x="0" y="0"/>
                </a:moveTo>
                <a:lnTo>
                  <a:pt x="664839" y="0"/>
                </a:lnTo>
                <a:lnTo>
                  <a:pt x="664839" y="664839"/>
                </a:lnTo>
                <a:lnTo>
                  <a:pt x="0" y="66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105634"/>
            <a:ext cx="16230600" cy="4301109"/>
          </a:xfrm>
          <a:custGeom>
            <a:avLst/>
            <a:gdLst/>
            <a:ahLst/>
            <a:cxnLst/>
            <a:rect r="r" b="b" t="t" l="l"/>
            <a:pathLst>
              <a:path h="4301109" w="16230600">
                <a:moveTo>
                  <a:pt x="0" y="0"/>
                </a:moveTo>
                <a:lnTo>
                  <a:pt x="16230600" y="0"/>
                </a:lnTo>
                <a:lnTo>
                  <a:pt x="16230600" y="4301109"/>
                </a:lnTo>
                <a:lnTo>
                  <a:pt x="0" y="4301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Backlog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232244"/>
            <a:ext cx="16678160" cy="7004827"/>
          </a:xfrm>
          <a:custGeom>
            <a:avLst/>
            <a:gdLst/>
            <a:ahLst/>
            <a:cxnLst/>
            <a:rect r="r" b="b" t="t" l="l"/>
            <a:pathLst>
              <a:path h="7004827" w="16678160">
                <a:moveTo>
                  <a:pt x="0" y="0"/>
                </a:moveTo>
                <a:lnTo>
                  <a:pt x="16678160" y="0"/>
                </a:lnTo>
                <a:lnTo>
                  <a:pt x="16678160" y="7004827"/>
                </a:lnTo>
                <a:lnTo>
                  <a:pt x="0" y="7004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864426" y="9481333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2087881"/>
            <a:ext cx="16230600" cy="1584980"/>
            <a:chOff x="0" y="0"/>
            <a:chExt cx="4274726" cy="4174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417443"/>
            </a:xfrm>
            <a:custGeom>
              <a:avLst/>
              <a:gdLst/>
              <a:ahLst/>
              <a:cxnLst/>
              <a:rect r="r" b="b" t="t" l="l"/>
              <a:pathLst>
                <a:path h="41744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93117"/>
                  </a:lnTo>
                  <a:cubicBezTo>
                    <a:pt x="4274726" y="406552"/>
                    <a:pt x="4263834" y="417443"/>
                    <a:pt x="4250399" y="417443"/>
                  </a:cubicBezTo>
                  <a:lnTo>
                    <a:pt x="24327" y="417443"/>
                  </a:lnTo>
                  <a:cubicBezTo>
                    <a:pt x="17875" y="417443"/>
                    <a:pt x="11687" y="414880"/>
                    <a:pt x="7125" y="410318"/>
                  </a:cubicBezTo>
                  <a:cubicBezTo>
                    <a:pt x="2563" y="405756"/>
                    <a:pt x="0" y="399568"/>
                    <a:pt x="0" y="39311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274726" cy="446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796112"/>
            <a:ext cx="4741747" cy="2225164"/>
            <a:chOff x="0" y="0"/>
            <a:chExt cx="1248855" cy="5860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8855" cy="586051"/>
            </a:xfrm>
            <a:custGeom>
              <a:avLst/>
              <a:gdLst/>
              <a:ahLst/>
              <a:cxnLst/>
              <a:rect r="r" b="b" t="t" l="l"/>
              <a:pathLst>
                <a:path h="586051" w="1248855">
                  <a:moveTo>
                    <a:pt x="83268" y="0"/>
                  </a:moveTo>
                  <a:lnTo>
                    <a:pt x="1165587" y="0"/>
                  </a:lnTo>
                  <a:cubicBezTo>
                    <a:pt x="1211575" y="0"/>
                    <a:pt x="1248855" y="37281"/>
                    <a:pt x="1248855" y="83268"/>
                  </a:cubicBezTo>
                  <a:lnTo>
                    <a:pt x="1248855" y="502783"/>
                  </a:lnTo>
                  <a:cubicBezTo>
                    <a:pt x="1248855" y="548771"/>
                    <a:pt x="1211575" y="586051"/>
                    <a:pt x="1165587" y="586051"/>
                  </a:cubicBezTo>
                  <a:lnTo>
                    <a:pt x="83268" y="586051"/>
                  </a:lnTo>
                  <a:cubicBezTo>
                    <a:pt x="61184" y="586051"/>
                    <a:pt x="40005" y="577278"/>
                    <a:pt x="24389" y="561663"/>
                  </a:cubicBezTo>
                  <a:cubicBezTo>
                    <a:pt x="8773" y="546047"/>
                    <a:pt x="0" y="524867"/>
                    <a:pt x="0" y="502783"/>
                  </a:cubicBezTo>
                  <a:lnTo>
                    <a:pt x="0" y="83268"/>
                  </a:lnTo>
                  <a:cubicBezTo>
                    <a:pt x="0" y="37281"/>
                    <a:pt x="37281" y="0"/>
                    <a:pt x="83268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48855" cy="614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89622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216" y="2319666"/>
            <a:ext cx="15859718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OBJETIVOS DEL SPRINT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 COMPLETAR LAS HISTORIAS DE USUARIOS FALTANTES, REVISAR Y/O ACTUALIZAR DOCUMENTOS DEL SPRINT ANTERIOR Y ESTA ITERACIÓN DE SPRINT.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598158" y="6227507"/>
            <a:ext cx="3602831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 MÉTRICAS DEL SPRINT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PLANIFICADAS: 3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COMPLETADAS: 3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780657" y="5535445"/>
            <a:ext cx="11403987" cy="1324927"/>
            <a:chOff x="0" y="0"/>
            <a:chExt cx="3003519" cy="3489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03519" cy="348952"/>
            </a:xfrm>
            <a:custGeom>
              <a:avLst/>
              <a:gdLst/>
              <a:ahLst/>
              <a:cxnLst/>
              <a:rect r="r" b="b" t="t" l="l"/>
              <a:pathLst>
                <a:path h="348952" w="3003519">
                  <a:moveTo>
                    <a:pt x="34623" y="0"/>
                  </a:moveTo>
                  <a:lnTo>
                    <a:pt x="2968896" y="0"/>
                  </a:lnTo>
                  <a:cubicBezTo>
                    <a:pt x="2988018" y="0"/>
                    <a:pt x="3003519" y="15501"/>
                    <a:pt x="3003519" y="34623"/>
                  </a:cubicBezTo>
                  <a:lnTo>
                    <a:pt x="3003519" y="314329"/>
                  </a:lnTo>
                  <a:cubicBezTo>
                    <a:pt x="3003519" y="323512"/>
                    <a:pt x="2999871" y="332318"/>
                    <a:pt x="2993378" y="338811"/>
                  </a:cubicBezTo>
                  <a:cubicBezTo>
                    <a:pt x="2986885" y="345304"/>
                    <a:pt x="2978079" y="348952"/>
                    <a:pt x="2968896" y="348952"/>
                  </a:cubicBezTo>
                  <a:lnTo>
                    <a:pt x="34623" y="348952"/>
                  </a:lnTo>
                  <a:cubicBezTo>
                    <a:pt x="25440" y="348952"/>
                    <a:pt x="16634" y="345304"/>
                    <a:pt x="10141" y="338811"/>
                  </a:cubicBezTo>
                  <a:cubicBezTo>
                    <a:pt x="3648" y="332318"/>
                    <a:pt x="0" y="323512"/>
                    <a:pt x="0" y="314329"/>
                  </a:cubicBezTo>
                  <a:lnTo>
                    <a:pt x="0" y="34623"/>
                  </a:lnTo>
                  <a:cubicBezTo>
                    <a:pt x="0" y="25440"/>
                    <a:pt x="3648" y="16634"/>
                    <a:pt x="10141" y="10141"/>
                  </a:cubicBezTo>
                  <a:cubicBezTo>
                    <a:pt x="16634" y="3648"/>
                    <a:pt x="25440" y="0"/>
                    <a:pt x="34623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003519" cy="377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62975" y="5767537"/>
            <a:ext cx="10878047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POSITIVO: SE VE UN TRABAJO INTEGRO Y COMPLETO.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0132204" y="4291450"/>
            <a:ext cx="4741747" cy="834420"/>
            <a:chOff x="0" y="0"/>
            <a:chExt cx="1248855" cy="2197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8855" cy="219765"/>
            </a:xfrm>
            <a:custGeom>
              <a:avLst/>
              <a:gdLst/>
              <a:ahLst/>
              <a:cxnLst/>
              <a:rect r="r" b="b" t="t" l="l"/>
              <a:pathLst>
                <a:path h="219765" w="1248855">
                  <a:moveTo>
                    <a:pt x="83268" y="0"/>
                  </a:moveTo>
                  <a:lnTo>
                    <a:pt x="1165587" y="0"/>
                  </a:lnTo>
                  <a:cubicBezTo>
                    <a:pt x="1211575" y="0"/>
                    <a:pt x="1248855" y="37281"/>
                    <a:pt x="1248855" y="83268"/>
                  </a:cubicBezTo>
                  <a:lnTo>
                    <a:pt x="1248855" y="136497"/>
                  </a:lnTo>
                  <a:cubicBezTo>
                    <a:pt x="1248855" y="158581"/>
                    <a:pt x="1240082" y="179760"/>
                    <a:pt x="1224466" y="195376"/>
                  </a:cubicBezTo>
                  <a:cubicBezTo>
                    <a:pt x="1208851" y="210992"/>
                    <a:pt x="1187671" y="219765"/>
                    <a:pt x="1165587" y="219765"/>
                  </a:cubicBezTo>
                  <a:lnTo>
                    <a:pt x="83268" y="219765"/>
                  </a:lnTo>
                  <a:cubicBezTo>
                    <a:pt x="37281" y="219765"/>
                    <a:pt x="0" y="182484"/>
                    <a:pt x="0" y="136497"/>
                  </a:cubicBezTo>
                  <a:lnTo>
                    <a:pt x="0" y="83268"/>
                  </a:lnTo>
                  <a:cubicBezTo>
                    <a:pt x="0" y="37281"/>
                    <a:pt x="37281" y="0"/>
                    <a:pt x="83268" y="0"/>
                  </a:cubicBezTo>
                  <a:close/>
                </a:path>
              </a:pathLst>
            </a:custGeom>
            <a:solidFill>
              <a:srgbClr val="D488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48855" cy="248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55899" y="4579922"/>
            <a:ext cx="415242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FEEDBACK DEL PRODUCT OWNER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747063" y="7269947"/>
            <a:ext cx="11540937" cy="919098"/>
            <a:chOff x="0" y="0"/>
            <a:chExt cx="3039588" cy="2420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39588" cy="242067"/>
            </a:xfrm>
            <a:custGeom>
              <a:avLst/>
              <a:gdLst/>
              <a:ahLst/>
              <a:cxnLst/>
              <a:rect r="r" b="b" t="t" l="l"/>
              <a:pathLst>
                <a:path h="242067" w="3039588">
                  <a:moveTo>
                    <a:pt x="34212" y="0"/>
                  </a:moveTo>
                  <a:lnTo>
                    <a:pt x="3005376" y="0"/>
                  </a:lnTo>
                  <a:cubicBezTo>
                    <a:pt x="3024271" y="0"/>
                    <a:pt x="3039588" y="15317"/>
                    <a:pt x="3039588" y="34212"/>
                  </a:cubicBezTo>
                  <a:lnTo>
                    <a:pt x="3039588" y="207855"/>
                  </a:lnTo>
                  <a:cubicBezTo>
                    <a:pt x="3039588" y="216929"/>
                    <a:pt x="3035984" y="225630"/>
                    <a:pt x="3029568" y="232046"/>
                  </a:cubicBezTo>
                  <a:cubicBezTo>
                    <a:pt x="3023152" y="238462"/>
                    <a:pt x="3014450" y="242067"/>
                    <a:pt x="3005376" y="242067"/>
                  </a:cubicBezTo>
                  <a:lnTo>
                    <a:pt x="34212" y="242067"/>
                  </a:lnTo>
                  <a:cubicBezTo>
                    <a:pt x="15317" y="242067"/>
                    <a:pt x="0" y="226750"/>
                    <a:pt x="0" y="207855"/>
                  </a:cubicBezTo>
                  <a:lnTo>
                    <a:pt x="0" y="34212"/>
                  </a:lnTo>
                  <a:cubicBezTo>
                    <a:pt x="0" y="15317"/>
                    <a:pt x="15317" y="0"/>
                    <a:pt x="34212" y="0"/>
                  </a:cubicBezTo>
                  <a:close/>
                </a:path>
              </a:pathLst>
            </a:custGeom>
            <a:solidFill>
              <a:srgbClr val="E0666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039588" cy="270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161237" y="7498547"/>
            <a:ext cx="468368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 spc="20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MEJORAR: NADA POR EL MOMENTO.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91078" y="1670869"/>
            <a:ext cx="16105844" cy="7972393"/>
          </a:xfrm>
          <a:custGeom>
            <a:avLst/>
            <a:gdLst/>
            <a:ahLst/>
            <a:cxnLst/>
            <a:rect r="r" b="b" t="t" l="l"/>
            <a:pathLst>
              <a:path h="7972393" w="16105844">
                <a:moveTo>
                  <a:pt x="0" y="0"/>
                </a:moveTo>
                <a:lnTo>
                  <a:pt x="16105844" y="0"/>
                </a:lnTo>
                <a:lnTo>
                  <a:pt x="16105844" y="7972393"/>
                </a:lnTo>
                <a:lnTo>
                  <a:pt x="0" y="7972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13626" y="1024988"/>
            <a:ext cx="7366321" cy="7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3"/>
              </a:lnSpc>
            </a:pPr>
            <a:r>
              <a:rPr lang="en-US" sz="552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Cronograma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139016" y="2633234"/>
            <a:ext cx="5908708" cy="5836869"/>
          </a:xfrm>
          <a:custGeom>
            <a:avLst/>
            <a:gdLst/>
            <a:ahLst/>
            <a:cxnLst/>
            <a:rect r="r" b="b" t="t" l="l"/>
            <a:pathLst>
              <a:path h="5836869" w="5908708">
                <a:moveTo>
                  <a:pt x="0" y="0"/>
                </a:moveTo>
                <a:lnTo>
                  <a:pt x="5908708" y="0"/>
                </a:lnTo>
                <a:lnTo>
                  <a:pt x="5908708" y="5836869"/>
                </a:lnTo>
                <a:lnTo>
                  <a:pt x="0" y="583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8214" y="2633234"/>
            <a:ext cx="10219212" cy="4321150"/>
          </a:xfrm>
          <a:custGeom>
            <a:avLst/>
            <a:gdLst/>
            <a:ahLst/>
            <a:cxnLst/>
            <a:rect r="r" b="b" t="t" l="l"/>
            <a:pathLst>
              <a:path h="4321150" w="10219212">
                <a:moveTo>
                  <a:pt x="0" y="0"/>
                </a:moveTo>
                <a:lnTo>
                  <a:pt x="10219212" y="0"/>
                </a:lnTo>
                <a:lnTo>
                  <a:pt x="10219212" y="4321150"/>
                </a:lnTo>
                <a:lnTo>
                  <a:pt x="0" y="432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34350" y="7287783"/>
            <a:ext cx="6118040" cy="1182321"/>
          </a:xfrm>
          <a:custGeom>
            <a:avLst/>
            <a:gdLst/>
            <a:ahLst/>
            <a:cxnLst/>
            <a:rect r="r" b="b" t="t" l="l"/>
            <a:pathLst>
              <a:path h="1182321" w="6118040">
                <a:moveTo>
                  <a:pt x="0" y="0"/>
                </a:moveTo>
                <a:lnTo>
                  <a:pt x="6118040" y="0"/>
                </a:lnTo>
                <a:lnTo>
                  <a:pt x="6118040" y="1182320"/>
                </a:lnTo>
                <a:lnTo>
                  <a:pt x="0" y="11823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Presupuesto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140" y="446388"/>
            <a:ext cx="17125720" cy="582312"/>
            <a:chOff x="0" y="0"/>
            <a:chExt cx="4510478" cy="153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0478" cy="153366"/>
            </a:xfrm>
            <a:custGeom>
              <a:avLst/>
              <a:gdLst/>
              <a:ahLst/>
              <a:cxnLst/>
              <a:rect r="r" b="b" t="t" l="l"/>
              <a:pathLst>
                <a:path h="153366" w="4510478">
                  <a:moveTo>
                    <a:pt x="7233" y="0"/>
                  </a:moveTo>
                  <a:lnTo>
                    <a:pt x="4503245" y="0"/>
                  </a:lnTo>
                  <a:cubicBezTo>
                    <a:pt x="4505163" y="0"/>
                    <a:pt x="4507003" y="762"/>
                    <a:pt x="4508359" y="2119"/>
                  </a:cubicBezTo>
                  <a:cubicBezTo>
                    <a:pt x="4509716" y="3475"/>
                    <a:pt x="4510478" y="5315"/>
                    <a:pt x="4510478" y="7233"/>
                  </a:cubicBezTo>
                  <a:lnTo>
                    <a:pt x="4510478" y="146133"/>
                  </a:lnTo>
                  <a:cubicBezTo>
                    <a:pt x="4510478" y="148051"/>
                    <a:pt x="4509716" y="149891"/>
                    <a:pt x="4508359" y="151248"/>
                  </a:cubicBezTo>
                  <a:cubicBezTo>
                    <a:pt x="4507003" y="152604"/>
                    <a:pt x="4505163" y="153366"/>
                    <a:pt x="4503245" y="153366"/>
                  </a:cubicBezTo>
                  <a:lnTo>
                    <a:pt x="7233" y="153366"/>
                  </a:lnTo>
                  <a:cubicBezTo>
                    <a:pt x="5315" y="153366"/>
                    <a:pt x="3475" y="152604"/>
                    <a:pt x="2119" y="151248"/>
                  </a:cubicBezTo>
                  <a:cubicBezTo>
                    <a:pt x="762" y="149891"/>
                    <a:pt x="0" y="148051"/>
                    <a:pt x="0" y="146133"/>
                  </a:cubicBezTo>
                  <a:lnTo>
                    <a:pt x="0" y="7233"/>
                  </a:lnTo>
                  <a:cubicBezTo>
                    <a:pt x="0" y="5315"/>
                    <a:pt x="762" y="3475"/>
                    <a:pt x="2119" y="2119"/>
                  </a:cubicBezTo>
                  <a:cubicBezTo>
                    <a:pt x="3475" y="762"/>
                    <a:pt x="5315" y="0"/>
                    <a:pt x="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0478" cy="200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02984" y="9533834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5141"/>
            <a:ext cx="7174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CAPSTONE 2025 - ADMISSION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7547" y="1133475"/>
            <a:ext cx="9152907" cy="80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Kanban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44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81140" y="2609133"/>
            <a:ext cx="17125720" cy="6208073"/>
          </a:xfrm>
          <a:custGeom>
            <a:avLst/>
            <a:gdLst/>
            <a:ahLst/>
            <a:cxnLst/>
            <a:rect r="r" b="b" t="t" l="l"/>
            <a:pathLst>
              <a:path h="6208073" w="17125720">
                <a:moveTo>
                  <a:pt x="0" y="0"/>
                </a:moveTo>
                <a:lnTo>
                  <a:pt x="17125720" y="0"/>
                </a:lnTo>
                <a:lnTo>
                  <a:pt x="17125720" y="6208073"/>
                </a:lnTo>
                <a:lnTo>
                  <a:pt x="0" y="6208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7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99237" y="1573682"/>
            <a:ext cx="11364875" cy="166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b="true" sz="124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Demostración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815051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01095" y="8063476"/>
            <a:ext cx="17986905" cy="57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b="true" sz="426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https://capstone-three-rouge.vercel.app/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1271" y="721514"/>
            <a:ext cx="13645457" cy="166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b="true" sz="124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15051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046325" y="3049578"/>
            <a:ext cx="3537451" cy="5845422"/>
          </a:xfrm>
          <a:custGeom>
            <a:avLst/>
            <a:gdLst/>
            <a:ahLst/>
            <a:cxnLst/>
            <a:rect r="r" b="b" t="t" l="l"/>
            <a:pathLst>
              <a:path h="5845422" w="3537451">
                <a:moveTo>
                  <a:pt x="0" y="0"/>
                </a:moveTo>
                <a:lnTo>
                  <a:pt x="3537451" y="0"/>
                </a:lnTo>
                <a:lnTo>
                  <a:pt x="3537451" y="5845422"/>
                </a:lnTo>
                <a:lnTo>
                  <a:pt x="0" y="584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4224" y="3049578"/>
            <a:ext cx="3537451" cy="5845422"/>
          </a:xfrm>
          <a:custGeom>
            <a:avLst/>
            <a:gdLst/>
            <a:ahLst/>
            <a:cxnLst/>
            <a:rect r="r" b="b" t="t" l="l"/>
            <a:pathLst>
              <a:path h="5845422" w="3537451">
                <a:moveTo>
                  <a:pt x="0" y="0"/>
                </a:moveTo>
                <a:lnTo>
                  <a:pt x="3537451" y="0"/>
                </a:lnTo>
                <a:lnTo>
                  <a:pt x="3537451" y="5845422"/>
                </a:lnTo>
                <a:lnTo>
                  <a:pt x="0" y="5845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75275" y="3049578"/>
            <a:ext cx="3537451" cy="5845422"/>
          </a:xfrm>
          <a:custGeom>
            <a:avLst/>
            <a:gdLst/>
            <a:ahLst/>
            <a:cxnLst/>
            <a:rect r="r" b="b" t="t" l="l"/>
            <a:pathLst>
              <a:path h="5845422" w="3537451">
                <a:moveTo>
                  <a:pt x="0" y="0"/>
                </a:moveTo>
                <a:lnTo>
                  <a:pt x="3537450" y="0"/>
                </a:lnTo>
                <a:lnTo>
                  <a:pt x="3537450" y="5845422"/>
                </a:lnTo>
                <a:lnTo>
                  <a:pt x="0" y="5845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80010" y="3383214"/>
            <a:ext cx="1185878" cy="1185878"/>
          </a:xfrm>
          <a:custGeom>
            <a:avLst/>
            <a:gdLst/>
            <a:ahLst/>
            <a:cxnLst/>
            <a:rect r="r" b="b" t="t" l="l"/>
            <a:pathLst>
              <a:path h="1185878" w="1185878">
                <a:moveTo>
                  <a:pt x="0" y="0"/>
                </a:moveTo>
                <a:lnTo>
                  <a:pt x="1185878" y="0"/>
                </a:lnTo>
                <a:lnTo>
                  <a:pt x="1185878" y="1185878"/>
                </a:lnTo>
                <a:lnTo>
                  <a:pt x="0" y="1185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20626" y="3383214"/>
            <a:ext cx="1188850" cy="1185878"/>
          </a:xfrm>
          <a:custGeom>
            <a:avLst/>
            <a:gdLst/>
            <a:ahLst/>
            <a:cxnLst/>
            <a:rect r="r" b="b" t="t" l="l"/>
            <a:pathLst>
              <a:path h="1185878" w="1188850">
                <a:moveTo>
                  <a:pt x="0" y="0"/>
                </a:moveTo>
                <a:lnTo>
                  <a:pt x="1188850" y="0"/>
                </a:lnTo>
                <a:lnTo>
                  <a:pt x="1188850" y="1185878"/>
                </a:lnTo>
                <a:lnTo>
                  <a:pt x="0" y="1185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51061" y="3383214"/>
            <a:ext cx="1185878" cy="1185878"/>
          </a:xfrm>
          <a:custGeom>
            <a:avLst/>
            <a:gdLst/>
            <a:ahLst/>
            <a:cxnLst/>
            <a:rect r="r" b="b" t="t" l="l"/>
            <a:pathLst>
              <a:path h="1185878" w="1185878">
                <a:moveTo>
                  <a:pt x="0" y="0"/>
                </a:moveTo>
                <a:lnTo>
                  <a:pt x="1185878" y="0"/>
                </a:lnTo>
                <a:lnTo>
                  <a:pt x="1185878" y="1185878"/>
                </a:lnTo>
                <a:lnTo>
                  <a:pt x="0" y="11858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7022" y="4986954"/>
            <a:ext cx="3491854" cy="238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  <a:spcBef>
                <a:spcPct val="0"/>
              </a:spcBef>
            </a:pPr>
            <a:r>
              <a:rPr lang="en-US" b="true" sz="19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aprendizaje de Duoc a través de los años, nos a permitido llegar a este punto. Este capstone usa distintas herramientas y aprendizajes de muchas áreas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78782" y="4944326"/>
            <a:ext cx="3330436" cy="246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importancia de que los gráficos sean explicativos consiste en su capacidad para transformar datos complejos en información comprensible y significativa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00284" y="4944326"/>
            <a:ext cx="3429534" cy="246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Todo lo aprendido en estos años no solo es</a:t>
            </a:r>
            <a:r>
              <a:rPr lang="en-US" b="true" sz="2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una acumulación de contenidos, y esto se refleja cuando aplicamos soluciones a problemas reales.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BF8B16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7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596969"/>
            <a:ext cx="18288000" cy="166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8"/>
              </a:lnSpc>
            </a:pPr>
            <a:r>
              <a:rPr lang="en-US" b="true" sz="124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MUCHAS 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815051" y="9258300"/>
            <a:ext cx="3385016" cy="753166"/>
          </a:xfrm>
          <a:custGeom>
            <a:avLst/>
            <a:gdLst/>
            <a:ahLst/>
            <a:cxnLst/>
            <a:rect r="r" b="b" t="t" l="l"/>
            <a:pathLst>
              <a:path h="753166" w="3385016">
                <a:moveTo>
                  <a:pt x="0" y="0"/>
                </a:moveTo>
                <a:lnTo>
                  <a:pt x="3385016" y="0"/>
                </a:lnTo>
                <a:lnTo>
                  <a:pt x="3385016" y="753166"/>
                </a:lnTo>
                <a:lnTo>
                  <a:pt x="0" y="753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23141" y="9414658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sz="44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DAG5W--nyjM</dc:identifier>
  <dcterms:modified xsi:type="dcterms:W3CDTF">2011-08-01T06:04:30Z</dcterms:modified>
  <cp:revision>1</cp:revision>
  <dc:title>GITHUB</dc:title>
</cp:coreProperties>
</file>