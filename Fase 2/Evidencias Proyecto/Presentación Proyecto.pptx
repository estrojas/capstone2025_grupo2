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8288000" cy="10287000"/>
  <p:notesSz cx="6858000" cy="9144000"/>
  <p:embeddedFontLst>
    <p:embeddedFont>
      <p:font typeface="Open Sans" panose="020B0606030504020204" pitchFamily="34" charset="0"/>
      <p:regular r:id="rId49"/>
    </p:embeddedFont>
    <p:embeddedFont>
      <p:font typeface="Open Sans Bold" panose="020B0806030504020204" charset="0"/>
      <p:regular r:id="rId50"/>
    </p:embeddedFont>
    <p:embeddedFont>
      <p:font typeface="Open Sauce" panose="020B0604020202020204" charset="0"/>
      <p:regular r:id="rId51"/>
    </p:embeddedFont>
    <p:embeddedFont>
      <p:font typeface="Open Sauce Bold" panose="020B0604020202020204" charset="0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804" y="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7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AutoShape 3"/>
          <p:cNvSpPr/>
          <p:nvPr/>
        </p:nvSpPr>
        <p:spPr>
          <a:xfrm>
            <a:off x="1028700" y="7763798"/>
            <a:ext cx="16230600" cy="0"/>
          </a:xfrm>
          <a:prstGeom prst="line">
            <a:avLst/>
          </a:prstGeom>
          <a:ln w="38100" cap="flat">
            <a:solidFill>
              <a:srgbClr val="3CADD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14410716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2652254" y="209550"/>
            <a:ext cx="12983493" cy="38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068"/>
              </a:lnSpc>
            </a:pPr>
            <a:r>
              <a:rPr lang="en-US" sz="143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Admission Analytics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58338" y="8436624"/>
            <a:ext cx="1583672" cy="349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Integrantes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242010" y="8436624"/>
            <a:ext cx="3751079" cy="1054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Esteban Rojas 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David Rubio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Antonio Vega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540315" y="8436624"/>
            <a:ext cx="4190863" cy="349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Profesor:     Mauricio Figueroa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326652" cy="75438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351905" cy="1345845"/>
            <a:chOff x="0" y="0"/>
            <a:chExt cx="4570049" cy="3544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70049" cy="354461"/>
            </a:xfrm>
            <a:custGeom>
              <a:avLst/>
              <a:gdLst/>
              <a:ahLst/>
              <a:cxnLst/>
              <a:rect l="l" t="t" r="r" b="b"/>
              <a:pathLst>
                <a:path w="4570049" h="354461">
                  <a:moveTo>
                    <a:pt x="7139" y="0"/>
                  </a:moveTo>
                  <a:lnTo>
                    <a:pt x="4562911" y="0"/>
                  </a:lnTo>
                  <a:cubicBezTo>
                    <a:pt x="4564804" y="0"/>
                    <a:pt x="4566620" y="752"/>
                    <a:pt x="4567958" y="2091"/>
                  </a:cubicBezTo>
                  <a:cubicBezTo>
                    <a:pt x="4569297" y="3430"/>
                    <a:pt x="4570049" y="5245"/>
                    <a:pt x="4570049" y="7139"/>
                  </a:cubicBezTo>
                  <a:lnTo>
                    <a:pt x="4570049" y="347323"/>
                  </a:lnTo>
                  <a:cubicBezTo>
                    <a:pt x="4570049" y="349216"/>
                    <a:pt x="4569297" y="351032"/>
                    <a:pt x="4567958" y="352370"/>
                  </a:cubicBezTo>
                  <a:cubicBezTo>
                    <a:pt x="4566620" y="353709"/>
                    <a:pt x="4564804" y="354461"/>
                    <a:pt x="4562911" y="354461"/>
                  </a:cubicBezTo>
                  <a:lnTo>
                    <a:pt x="7139" y="354461"/>
                  </a:lnTo>
                  <a:cubicBezTo>
                    <a:pt x="5245" y="354461"/>
                    <a:pt x="3430" y="353709"/>
                    <a:pt x="2091" y="352370"/>
                  </a:cubicBezTo>
                  <a:cubicBezTo>
                    <a:pt x="752" y="351032"/>
                    <a:pt x="0" y="349216"/>
                    <a:pt x="0" y="347323"/>
                  </a:cubicBezTo>
                  <a:lnTo>
                    <a:pt x="0" y="7139"/>
                  </a:lnTo>
                  <a:cubicBezTo>
                    <a:pt x="0" y="5245"/>
                    <a:pt x="752" y="3430"/>
                    <a:pt x="2091" y="2091"/>
                  </a:cubicBezTo>
                  <a:cubicBezTo>
                    <a:pt x="3430" y="752"/>
                    <a:pt x="5245" y="0"/>
                    <a:pt x="713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70049" cy="4020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548030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AutoShape 6"/>
          <p:cNvSpPr/>
          <p:nvPr/>
        </p:nvSpPr>
        <p:spPr>
          <a:xfrm flipV="1">
            <a:off x="11892302" y="3922595"/>
            <a:ext cx="319544" cy="2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756579" y="2219537"/>
            <a:ext cx="5310991" cy="7415346"/>
          </a:xfrm>
          <a:custGeom>
            <a:avLst/>
            <a:gdLst/>
            <a:ahLst/>
            <a:cxnLst/>
            <a:rect l="l" t="t" r="r" b="b"/>
            <a:pathLst>
              <a:path w="5310991" h="7415346">
                <a:moveTo>
                  <a:pt x="0" y="0"/>
                </a:moveTo>
                <a:lnTo>
                  <a:pt x="5310990" y="0"/>
                </a:lnTo>
                <a:lnTo>
                  <a:pt x="5310990" y="7415346"/>
                </a:lnTo>
                <a:lnTo>
                  <a:pt x="0" y="74153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6738242" y="2766495"/>
            <a:ext cx="5154060" cy="5173470"/>
          </a:xfrm>
          <a:custGeom>
            <a:avLst/>
            <a:gdLst/>
            <a:ahLst/>
            <a:cxnLst/>
            <a:rect l="l" t="t" r="r" b="b"/>
            <a:pathLst>
              <a:path w="5154060" h="5173470">
                <a:moveTo>
                  <a:pt x="0" y="0"/>
                </a:moveTo>
                <a:lnTo>
                  <a:pt x="5154060" y="0"/>
                </a:lnTo>
                <a:lnTo>
                  <a:pt x="5154060" y="5173470"/>
                </a:lnTo>
                <a:lnTo>
                  <a:pt x="0" y="51734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47" r="-347"/>
            </a:stretch>
          </a:blipFill>
          <a:ln w="3810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2260523" y="3578070"/>
            <a:ext cx="4765773" cy="3416970"/>
          </a:xfrm>
          <a:custGeom>
            <a:avLst/>
            <a:gdLst/>
            <a:ahLst/>
            <a:cxnLst/>
            <a:rect l="l" t="t" r="r" b="b"/>
            <a:pathLst>
              <a:path w="4765773" h="3416970">
                <a:moveTo>
                  <a:pt x="0" y="0"/>
                </a:moveTo>
                <a:lnTo>
                  <a:pt x="4765773" y="0"/>
                </a:lnTo>
                <a:lnTo>
                  <a:pt x="4765773" y="3416970"/>
                </a:lnTo>
                <a:lnTo>
                  <a:pt x="0" y="3416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563624" y="538263"/>
            <a:ext cx="9160752" cy="1038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Tabla de Contenidos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388141" y="1028700"/>
            <a:ext cx="8421447" cy="8934806"/>
            <a:chOff x="0" y="0"/>
            <a:chExt cx="11228596" cy="11913075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18601" r="18601"/>
            <a:stretch>
              <a:fillRect/>
            </a:stretch>
          </p:blipFill>
          <p:spPr>
            <a:xfrm>
              <a:off x="0" y="0"/>
              <a:ext cx="11228596" cy="11913075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600190" y="446388"/>
            <a:ext cx="17125720" cy="582312"/>
            <a:chOff x="0" y="0"/>
            <a:chExt cx="4510478" cy="1533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565141"/>
            <a:ext cx="636951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519072" y="1222579"/>
            <a:ext cx="3789287" cy="1038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Contexto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64206" y="2687737"/>
            <a:ext cx="6699019" cy="4596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Duoc UC es una institución con más de 50 años de historia en la Educación Técnico Profesional, con acreditación institucional máxima por 7 años.</a:t>
            </a:r>
          </a:p>
          <a:p>
            <a:pPr algn="just">
              <a:lnSpc>
                <a:spcPts val="3359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9 escuelas y más de 70 carreras vigentes.</a:t>
            </a:r>
          </a:p>
          <a:p>
            <a:pPr algn="just">
              <a:lnSpc>
                <a:spcPts val="3359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18 sedes en la Región Metropolitana, Valparaíso, Biobío, La Araucanía y Los Lagos.</a:t>
            </a:r>
          </a:p>
        </p:txBody>
      </p:sp>
      <p:sp>
        <p:nvSpPr>
          <p:cNvPr id="10" name="Freeform 10"/>
          <p:cNvSpPr/>
          <p:nvPr/>
        </p:nvSpPr>
        <p:spPr>
          <a:xfrm>
            <a:off x="1028700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57011" y="1133475"/>
            <a:ext cx="3773979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Problema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210757"/>
            <a:ext cx="8684050" cy="501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endParaRPr/>
          </a:p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De 2017 (20,3%) a 2023 (17,1%) → caída de 3,2 puntos porcentuales en matriculas.</a:t>
            </a:r>
          </a:p>
          <a:p>
            <a:pPr algn="just">
              <a:lnSpc>
                <a:spcPts val="3359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Esto representa aproximadamente una baja del 15,7 % en su participación de matrículas en la región.</a:t>
            </a:r>
          </a:p>
          <a:p>
            <a:pPr algn="just">
              <a:lnSpc>
                <a:spcPts val="3359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0" lvl="1" indent="-259080" algn="just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Duoc UC muestra una tendencia a la baja sostenida desde 2017 hasta 2023, con una leve recuperación en 2024. En números relativos, perdió más de 3 puntos de participación en el mercado regional de matrículas en menos de 7 años.</a:t>
            </a:r>
          </a:p>
        </p:txBody>
      </p:sp>
      <p:sp>
        <p:nvSpPr>
          <p:cNvPr id="8" name="Freeform 8"/>
          <p:cNvSpPr/>
          <p:nvPr/>
        </p:nvSpPr>
        <p:spPr>
          <a:xfrm>
            <a:off x="14410716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787" y="2057400"/>
            <a:ext cx="6172200" cy="61722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298440" y="7859001"/>
            <a:ext cx="7622232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Perdida de matriculas en 7 años para la región de Valparaíso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9263" y="9229725"/>
            <a:ext cx="8202924" cy="264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*Información basada en los datos abiertos del Mineduc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388141" y="1028700"/>
            <a:ext cx="8421447" cy="8934806"/>
            <a:chOff x="0" y="0"/>
            <a:chExt cx="11228596" cy="11913075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14654" r="14654"/>
            <a:stretch>
              <a:fillRect/>
            </a:stretch>
          </p:blipFill>
          <p:spPr>
            <a:xfrm>
              <a:off x="0" y="0"/>
              <a:ext cx="11228596" cy="11913075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028700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1038225" y="565141"/>
            <a:ext cx="636951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77924" y="1699913"/>
            <a:ext cx="4237202" cy="100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95"/>
              </a:lnSpc>
            </a:pPr>
            <a:r>
              <a:rPr lang="en-US" sz="5925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Necesidad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94893" y="3587113"/>
            <a:ext cx="6403263" cy="333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423" lvl="1" indent="-257211" algn="just">
              <a:lnSpc>
                <a:spcPts val="3335"/>
              </a:lnSpc>
              <a:buFont typeface="Arial"/>
              <a:buChar char="•"/>
            </a:pPr>
            <a:r>
              <a:rPr lang="en-US" sz="238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El instituto profesional Duoc UC enfrenta una alta competencia por captar estudiantes.</a:t>
            </a:r>
          </a:p>
          <a:p>
            <a:pPr algn="l">
              <a:lnSpc>
                <a:spcPts val="3335"/>
              </a:lnSpc>
            </a:pPr>
            <a:endParaRPr lang="en-US" sz="2382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4423" lvl="1" indent="-257211" algn="just">
              <a:lnSpc>
                <a:spcPts val="3335"/>
              </a:lnSpc>
              <a:buFont typeface="Arial"/>
              <a:buChar char="•"/>
            </a:pPr>
            <a:r>
              <a:rPr lang="en-US" sz="238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En este escenario, el área de admisión requiere información confiable y actualizada que le permita diseñar estrategias efectivas de captación.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886695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5" y="0"/>
                </a:lnTo>
                <a:lnTo>
                  <a:pt x="3385015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0703167" y="2515282"/>
            <a:ext cx="4876036" cy="5256436"/>
          </a:xfrm>
          <a:custGeom>
            <a:avLst/>
            <a:gdLst/>
            <a:ahLst/>
            <a:cxnLst/>
            <a:rect l="l" t="t" r="r" b="b"/>
            <a:pathLst>
              <a:path w="4876036" h="5256436">
                <a:moveTo>
                  <a:pt x="0" y="0"/>
                </a:moveTo>
                <a:lnTo>
                  <a:pt x="4876036" y="0"/>
                </a:lnTo>
                <a:lnTo>
                  <a:pt x="4876036" y="5256436"/>
                </a:lnTo>
                <a:lnTo>
                  <a:pt x="0" y="52564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67568" y="1282065"/>
            <a:ext cx="7994369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Solución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6582" y="2296207"/>
            <a:ext cx="6676342" cy="7244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60"/>
              </a:lnSpc>
            </a:pPr>
            <a:r>
              <a:rPr lang="en-US" sz="24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PLATAFORMA WEB QUE CUENTE CON:</a:t>
            </a:r>
          </a:p>
          <a:p>
            <a:pPr marL="518162" lvl="1" indent="-259081" algn="just">
              <a:lnSpc>
                <a:spcPts val="5160"/>
              </a:lnSpc>
              <a:buFont typeface="Arial"/>
              <a:buChar char="•"/>
            </a:pPr>
            <a:r>
              <a:rPr lang="en-US" sz="24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INTEGRACIÓN DE DATOS:</a:t>
            </a:r>
          </a:p>
          <a:p>
            <a:pPr algn="l">
              <a:lnSpc>
                <a:spcPts val="3360"/>
              </a:lnSpc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Unificación y procesamiento de información abierta del Mineduc en un repositorio central.</a:t>
            </a:r>
          </a:p>
          <a:p>
            <a:pPr algn="just">
              <a:lnSpc>
                <a:spcPts val="3360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2" lvl="1" indent="-259081" algn="just">
              <a:lnSpc>
                <a:spcPts val="5160"/>
              </a:lnSpc>
              <a:buFont typeface="Arial"/>
              <a:buChar char="•"/>
            </a:pPr>
            <a:r>
              <a:rPr lang="en-US" sz="24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INFORMACIÓN</a:t>
            </a:r>
          </a:p>
          <a:p>
            <a:pPr algn="l">
              <a:lnSpc>
                <a:spcPts val="3360"/>
              </a:lnSpc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Limpieza, transformación y almacenamiento en un Data Warehouse accesible y confiable.</a:t>
            </a:r>
          </a:p>
          <a:p>
            <a:pPr algn="just">
              <a:lnSpc>
                <a:spcPts val="3360"/>
              </a:lnSpc>
            </a:pPr>
            <a:endParaRPr lang="en-US" sz="240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518162" lvl="1" indent="-259081" algn="just">
              <a:lnSpc>
                <a:spcPts val="5160"/>
              </a:lnSpc>
              <a:buFont typeface="Arial"/>
              <a:buChar char="•"/>
            </a:pPr>
            <a:r>
              <a:rPr lang="en-US" sz="24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ANÁLISIS ESTRATÉGICO </a:t>
            </a:r>
          </a:p>
          <a:p>
            <a:pPr algn="l">
              <a:lnSpc>
                <a:spcPts val="3360"/>
              </a:lnSpc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Dashboards interactivos con indicadores clave que apoyan decisiones de admisión y captación.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433204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5" y="0"/>
                </a:lnTo>
                <a:lnTo>
                  <a:pt x="3385015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478281" y="1945006"/>
            <a:ext cx="17339938" cy="7109375"/>
          </a:xfrm>
          <a:custGeom>
            <a:avLst/>
            <a:gdLst/>
            <a:ahLst/>
            <a:cxnLst/>
            <a:rect l="l" t="t" r="r" b="b"/>
            <a:pathLst>
              <a:path w="17339938" h="7109375">
                <a:moveTo>
                  <a:pt x="0" y="0"/>
                </a:moveTo>
                <a:lnTo>
                  <a:pt x="17339938" y="0"/>
                </a:lnTo>
                <a:lnTo>
                  <a:pt x="17339938" y="7109374"/>
                </a:lnTo>
                <a:lnTo>
                  <a:pt x="0" y="71093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77579" y="1143000"/>
            <a:ext cx="9332841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de Usuario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312085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478409" y="9490858"/>
            <a:ext cx="2339810" cy="520608"/>
          </a:xfrm>
          <a:custGeom>
            <a:avLst/>
            <a:gdLst/>
            <a:ahLst/>
            <a:cxnLst/>
            <a:rect l="l" t="t" r="r" b="b"/>
            <a:pathLst>
              <a:path w="2339810" h="520608">
                <a:moveTo>
                  <a:pt x="0" y="0"/>
                </a:moveTo>
                <a:lnTo>
                  <a:pt x="2339810" y="0"/>
                </a:lnTo>
                <a:lnTo>
                  <a:pt x="2339810" y="520608"/>
                </a:lnTo>
                <a:lnTo>
                  <a:pt x="0" y="520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581140" y="1764748"/>
            <a:ext cx="17125720" cy="7663760"/>
          </a:xfrm>
          <a:custGeom>
            <a:avLst/>
            <a:gdLst/>
            <a:ahLst/>
            <a:cxnLst/>
            <a:rect l="l" t="t" r="r" b="b"/>
            <a:pathLst>
              <a:path w="17125720" h="7663760">
                <a:moveTo>
                  <a:pt x="0" y="0"/>
                </a:moveTo>
                <a:lnTo>
                  <a:pt x="17125720" y="0"/>
                </a:lnTo>
                <a:lnTo>
                  <a:pt x="17125720" y="7663760"/>
                </a:lnTo>
                <a:lnTo>
                  <a:pt x="0" y="76637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430839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77579" y="962742"/>
            <a:ext cx="9332841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Product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3203837" y="1935436"/>
            <a:ext cx="11699148" cy="7322864"/>
          </a:xfrm>
          <a:custGeom>
            <a:avLst/>
            <a:gdLst/>
            <a:ahLst/>
            <a:cxnLst/>
            <a:rect l="l" t="t" r="r" b="b"/>
            <a:pathLst>
              <a:path w="11699148" h="7322864">
                <a:moveTo>
                  <a:pt x="0" y="0"/>
                </a:moveTo>
                <a:lnTo>
                  <a:pt x="11699147" y="0"/>
                </a:lnTo>
                <a:lnTo>
                  <a:pt x="11699147" y="7322864"/>
                </a:lnTo>
                <a:lnTo>
                  <a:pt x="0" y="73228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146815" y="1133475"/>
            <a:ext cx="7994369" cy="801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Arquitectura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0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118754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687087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Modelo de Datos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0" y="3988096"/>
            <a:ext cx="4158114" cy="354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3"/>
              </a:lnSpc>
            </a:pPr>
            <a:r>
              <a:rPr lang="en-US" sz="2725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Modelo Constelación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8DA8386-8227-7043-82CF-8BB6246A6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246" y="1607807"/>
            <a:ext cx="10689286" cy="7992106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755305" y="2513937"/>
            <a:ext cx="10371556" cy="5839186"/>
          </a:xfrm>
          <a:custGeom>
            <a:avLst/>
            <a:gdLst/>
            <a:ahLst/>
            <a:cxnLst/>
            <a:rect l="l" t="t" r="r" b="b"/>
            <a:pathLst>
              <a:path w="10371556" h="5839186">
                <a:moveTo>
                  <a:pt x="0" y="0"/>
                </a:moveTo>
                <a:lnTo>
                  <a:pt x="10371556" y="0"/>
                </a:lnTo>
                <a:lnTo>
                  <a:pt x="10371556" y="5839186"/>
                </a:lnTo>
                <a:lnTo>
                  <a:pt x="0" y="58391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7" name="Freeform 7"/>
          <p:cNvSpPr/>
          <p:nvPr/>
        </p:nvSpPr>
        <p:spPr>
          <a:xfrm>
            <a:off x="14410716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3579469" y="1133475"/>
            <a:ext cx="11129061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Metodología escogida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7834" y="2447262"/>
            <a:ext cx="6676342" cy="6434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Permite avances iterativos e incrementales, ajustando el proyecto según el progreso.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Favorece la gestión del tiempo en un contexto con plazos limitados.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Facilita la entrega de valor temprano, mostrando prototipos funcionales rápidamente.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Refuerza el trabajo colaborativo, esencial en proyectos en equipo.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11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408481" y="9713089"/>
            <a:ext cx="2298379" cy="511389"/>
          </a:xfrm>
          <a:custGeom>
            <a:avLst/>
            <a:gdLst/>
            <a:ahLst/>
            <a:cxnLst/>
            <a:rect l="l" t="t" r="r" b="b"/>
            <a:pathLst>
              <a:path w="2298379" h="511389">
                <a:moveTo>
                  <a:pt x="0" y="0"/>
                </a:moveTo>
                <a:lnTo>
                  <a:pt x="2298379" y="0"/>
                </a:lnTo>
                <a:lnTo>
                  <a:pt x="2298379" y="511390"/>
                </a:lnTo>
                <a:lnTo>
                  <a:pt x="0" y="5113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04737" y="1905239"/>
            <a:ext cx="16678160" cy="7776192"/>
          </a:xfrm>
          <a:custGeom>
            <a:avLst/>
            <a:gdLst/>
            <a:ahLst/>
            <a:cxnLst/>
            <a:rect l="l" t="t" r="r" b="b"/>
            <a:pathLst>
              <a:path w="16678160" h="7776192">
                <a:moveTo>
                  <a:pt x="0" y="0"/>
                </a:moveTo>
                <a:lnTo>
                  <a:pt x="16678160" y="0"/>
                </a:lnTo>
                <a:lnTo>
                  <a:pt x="16678160" y="7776192"/>
                </a:lnTo>
                <a:lnTo>
                  <a:pt x="0" y="77761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270794" y="876494"/>
            <a:ext cx="3989313" cy="1028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Evidencias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12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410716" y="8881717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382610" y="3286089"/>
            <a:ext cx="13522779" cy="4108186"/>
          </a:xfrm>
          <a:custGeom>
            <a:avLst/>
            <a:gdLst/>
            <a:ahLst/>
            <a:cxnLst/>
            <a:rect l="l" t="t" r="r" b="b"/>
            <a:pathLst>
              <a:path w="13522779" h="4108186">
                <a:moveTo>
                  <a:pt x="0" y="0"/>
                </a:moveTo>
                <a:lnTo>
                  <a:pt x="13522780" y="0"/>
                </a:lnTo>
                <a:lnTo>
                  <a:pt x="13522780" y="4108186"/>
                </a:lnTo>
                <a:lnTo>
                  <a:pt x="0" y="41081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146815" y="1543777"/>
            <a:ext cx="7994369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Roles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13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21271" y="3481663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Iteración Sprint 0</a:t>
            </a:r>
          </a:p>
        </p:txBody>
      </p:sp>
      <p:sp>
        <p:nvSpPr>
          <p:cNvPr id="3" name="Freeform 3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14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868784" y="6363364"/>
            <a:ext cx="3996346" cy="2637589"/>
            <a:chOff x="0" y="0"/>
            <a:chExt cx="635000" cy="419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37837" y="0"/>
                  </a:moveTo>
                  <a:lnTo>
                    <a:pt x="597163" y="0"/>
                  </a:lnTo>
                  <a:cubicBezTo>
                    <a:pt x="607198" y="0"/>
                    <a:pt x="616822" y="3986"/>
                    <a:pt x="623918" y="11082"/>
                  </a:cubicBezTo>
                  <a:cubicBezTo>
                    <a:pt x="631014" y="18178"/>
                    <a:pt x="635000" y="27802"/>
                    <a:pt x="635000" y="37837"/>
                  </a:cubicBezTo>
                  <a:lnTo>
                    <a:pt x="635000" y="381263"/>
                  </a:lnTo>
                  <a:cubicBezTo>
                    <a:pt x="635000" y="391298"/>
                    <a:pt x="631014" y="400922"/>
                    <a:pt x="623918" y="408018"/>
                  </a:cubicBezTo>
                  <a:cubicBezTo>
                    <a:pt x="616822" y="415114"/>
                    <a:pt x="607198" y="419100"/>
                    <a:pt x="597163" y="419100"/>
                  </a:cubicBezTo>
                  <a:lnTo>
                    <a:pt x="37837" y="419100"/>
                  </a:lnTo>
                  <a:cubicBezTo>
                    <a:pt x="27802" y="419100"/>
                    <a:pt x="18178" y="415114"/>
                    <a:pt x="11082" y="408018"/>
                  </a:cubicBezTo>
                  <a:cubicBezTo>
                    <a:pt x="3986" y="400922"/>
                    <a:pt x="0" y="391298"/>
                    <a:pt x="0" y="381263"/>
                  </a:cubicBezTo>
                  <a:lnTo>
                    <a:pt x="0" y="37837"/>
                  </a:lnTo>
                  <a:cubicBezTo>
                    <a:pt x="0" y="27802"/>
                    <a:pt x="3986" y="18178"/>
                    <a:pt x="11082" y="11082"/>
                  </a:cubicBezTo>
                  <a:cubicBezTo>
                    <a:pt x="18178" y="3986"/>
                    <a:pt x="27802" y="0"/>
                    <a:pt x="37837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PREPARACIÓN PROYECTO EN GOOGLE CLOUD PLATAFORM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281951" y="6363364"/>
            <a:ext cx="3996346" cy="2637589"/>
            <a:chOff x="0" y="0"/>
            <a:chExt cx="635000" cy="419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37837" y="0"/>
                  </a:moveTo>
                  <a:lnTo>
                    <a:pt x="597163" y="0"/>
                  </a:lnTo>
                  <a:cubicBezTo>
                    <a:pt x="607198" y="0"/>
                    <a:pt x="616822" y="3986"/>
                    <a:pt x="623918" y="11082"/>
                  </a:cubicBezTo>
                  <a:cubicBezTo>
                    <a:pt x="631014" y="18178"/>
                    <a:pt x="635000" y="27802"/>
                    <a:pt x="635000" y="37837"/>
                  </a:cubicBezTo>
                  <a:lnTo>
                    <a:pt x="635000" y="381263"/>
                  </a:lnTo>
                  <a:cubicBezTo>
                    <a:pt x="635000" y="391298"/>
                    <a:pt x="631014" y="400922"/>
                    <a:pt x="623918" y="408018"/>
                  </a:cubicBezTo>
                  <a:cubicBezTo>
                    <a:pt x="616822" y="415114"/>
                    <a:pt x="607198" y="419100"/>
                    <a:pt x="597163" y="419100"/>
                  </a:cubicBezTo>
                  <a:lnTo>
                    <a:pt x="37837" y="419100"/>
                  </a:lnTo>
                  <a:cubicBezTo>
                    <a:pt x="27802" y="419100"/>
                    <a:pt x="18178" y="415114"/>
                    <a:pt x="11082" y="408018"/>
                  </a:cubicBezTo>
                  <a:cubicBezTo>
                    <a:pt x="3986" y="400922"/>
                    <a:pt x="0" y="391298"/>
                    <a:pt x="0" y="381263"/>
                  </a:cubicBezTo>
                  <a:lnTo>
                    <a:pt x="0" y="37837"/>
                  </a:lnTo>
                  <a:cubicBezTo>
                    <a:pt x="0" y="27802"/>
                    <a:pt x="3986" y="18178"/>
                    <a:pt x="11082" y="11082"/>
                  </a:cubicBezTo>
                  <a:cubicBezTo>
                    <a:pt x="18178" y="3986"/>
                    <a:pt x="27802" y="0"/>
                    <a:pt x="37837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PREPARACIÓN AMBIENTE SUPABASE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697523" y="6363364"/>
            <a:ext cx="3996346" cy="2637589"/>
            <a:chOff x="0" y="0"/>
            <a:chExt cx="635000" cy="4191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37837" y="0"/>
                  </a:moveTo>
                  <a:lnTo>
                    <a:pt x="597163" y="0"/>
                  </a:lnTo>
                  <a:cubicBezTo>
                    <a:pt x="607198" y="0"/>
                    <a:pt x="616822" y="3986"/>
                    <a:pt x="623918" y="11082"/>
                  </a:cubicBezTo>
                  <a:cubicBezTo>
                    <a:pt x="631014" y="18178"/>
                    <a:pt x="635000" y="27802"/>
                    <a:pt x="635000" y="37837"/>
                  </a:cubicBezTo>
                  <a:lnTo>
                    <a:pt x="635000" y="381263"/>
                  </a:lnTo>
                  <a:cubicBezTo>
                    <a:pt x="635000" y="391298"/>
                    <a:pt x="631014" y="400922"/>
                    <a:pt x="623918" y="408018"/>
                  </a:cubicBezTo>
                  <a:cubicBezTo>
                    <a:pt x="616822" y="415114"/>
                    <a:pt x="607198" y="419100"/>
                    <a:pt x="597163" y="419100"/>
                  </a:cubicBezTo>
                  <a:lnTo>
                    <a:pt x="37837" y="419100"/>
                  </a:lnTo>
                  <a:cubicBezTo>
                    <a:pt x="27802" y="419100"/>
                    <a:pt x="18178" y="415114"/>
                    <a:pt x="11082" y="408018"/>
                  </a:cubicBezTo>
                  <a:cubicBezTo>
                    <a:pt x="3986" y="400922"/>
                    <a:pt x="0" y="391298"/>
                    <a:pt x="0" y="381263"/>
                  </a:cubicBezTo>
                  <a:lnTo>
                    <a:pt x="0" y="37837"/>
                  </a:lnTo>
                  <a:cubicBezTo>
                    <a:pt x="0" y="27802"/>
                    <a:pt x="3986" y="18178"/>
                    <a:pt x="11082" y="11082"/>
                  </a:cubicBezTo>
                  <a:cubicBezTo>
                    <a:pt x="18178" y="3986"/>
                    <a:pt x="27802" y="0"/>
                    <a:pt x="37837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REUNIR PLANTILLAS DE DOCUMENTOS</a:t>
              </a:r>
            </a:p>
          </p:txBody>
        </p:sp>
      </p:grpSp>
      <p:sp>
        <p:nvSpPr>
          <p:cNvPr id="15" name="Freeform 15"/>
          <p:cNvSpPr/>
          <p:nvPr/>
        </p:nvSpPr>
        <p:spPr>
          <a:xfrm>
            <a:off x="5300213" y="5798447"/>
            <a:ext cx="1129835" cy="1129835"/>
          </a:xfrm>
          <a:custGeom>
            <a:avLst/>
            <a:gdLst/>
            <a:ahLst/>
            <a:cxnLst/>
            <a:rect l="l" t="t" r="r" b="b"/>
            <a:pathLst>
              <a:path w="1129835" h="1129835">
                <a:moveTo>
                  <a:pt x="0" y="0"/>
                </a:moveTo>
                <a:lnTo>
                  <a:pt x="1129835" y="0"/>
                </a:lnTo>
                <a:lnTo>
                  <a:pt x="1129835" y="1129835"/>
                </a:lnTo>
                <a:lnTo>
                  <a:pt x="0" y="11298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TextBox 1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Resumen Sprint 0</a:t>
            </a:r>
          </a:p>
        </p:txBody>
      </p:sp>
      <p:sp>
        <p:nvSpPr>
          <p:cNvPr id="18" name="Freeform 18"/>
          <p:cNvSpPr/>
          <p:nvPr/>
        </p:nvSpPr>
        <p:spPr>
          <a:xfrm>
            <a:off x="10713380" y="5798447"/>
            <a:ext cx="1129835" cy="1129835"/>
          </a:xfrm>
          <a:custGeom>
            <a:avLst/>
            <a:gdLst/>
            <a:ahLst/>
            <a:cxnLst/>
            <a:rect l="l" t="t" r="r" b="b"/>
            <a:pathLst>
              <a:path w="1129835" h="1129835">
                <a:moveTo>
                  <a:pt x="0" y="0"/>
                </a:moveTo>
                <a:lnTo>
                  <a:pt x="1129835" y="0"/>
                </a:lnTo>
                <a:lnTo>
                  <a:pt x="1129835" y="1129835"/>
                </a:lnTo>
                <a:lnTo>
                  <a:pt x="0" y="11298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16129465" y="5798447"/>
            <a:ext cx="1129835" cy="1129835"/>
          </a:xfrm>
          <a:custGeom>
            <a:avLst/>
            <a:gdLst/>
            <a:ahLst/>
            <a:cxnLst/>
            <a:rect l="l" t="t" r="r" b="b"/>
            <a:pathLst>
              <a:path w="1129835" h="1129835">
                <a:moveTo>
                  <a:pt x="0" y="0"/>
                </a:moveTo>
                <a:lnTo>
                  <a:pt x="1129835" y="0"/>
                </a:lnTo>
                <a:lnTo>
                  <a:pt x="1129835" y="1129835"/>
                </a:lnTo>
                <a:lnTo>
                  <a:pt x="0" y="11298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511582" y="229849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Duración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788625" y="5396302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Tareas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2055757" y="3173937"/>
            <a:ext cx="3622400" cy="1044191"/>
            <a:chOff x="0" y="0"/>
            <a:chExt cx="635000" cy="18304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35000" cy="183045"/>
            </a:xfrm>
            <a:custGeom>
              <a:avLst/>
              <a:gdLst/>
              <a:ahLst/>
              <a:cxnLst/>
              <a:rect l="l" t="t" r="r" b="b"/>
              <a:pathLst>
                <a:path w="635000" h="183045">
                  <a:moveTo>
                    <a:pt x="41743" y="0"/>
                  </a:moveTo>
                  <a:lnTo>
                    <a:pt x="593257" y="0"/>
                  </a:lnTo>
                  <a:cubicBezTo>
                    <a:pt x="616311" y="0"/>
                    <a:pt x="635000" y="18689"/>
                    <a:pt x="635000" y="41743"/>
                  </a:cubicBezTo>
                  <a:lnTo>
                    <a:pt x="635000" y="141302"/>
                  </a:lnTo>
                  <a:cubicBezTo>
                    <a:pt x="635000" y="164356"/>
                    <a:pt x="616311" y="183045"/>
                    <a:pt x="593257" y="183045"/>
                  </a:cubicBezTo>
                  <a:lnTo>
                    <a:pt x="41743" y="183045"/>
                  </a:lnTo>
                  <a:cubicBezTo>
                    <a:pt x="30672" y="183045"/>
                    <a:pt x="20055" y="178647"/>
                    <a:pt x="12226" y="170819"/>
                  </a:cubicBezTo>
                  <a:cubicBezTo>
                    <a:pt x="4398" y="162990"/>
                    <a:pt x="0" y="152373"/>
                    <a:pt x="0" y="141302"/>
                  </a:cubicBezTo>
                  <a:lnTo>
                    <a:pt x="0" y="41743"/>
                  </a:lnTo>
                  <a:cubicBezTo>
                    <a:pt x="0" y="18689"/>
                    <a:pt x="18689" y="0"/>
                    <a:pt x="4174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635000" cy="2211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1 SEMANA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9845154" y="216408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Evidencias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624077" y="3016193"/>
            <a:ext cx="2358462" cy="1556585"/>
            <a:chOff x="0" y="0"/>
            <a:chExt cx="635000" cy="4191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114" y="0"/>
                  </a:moveTo>
                  <a:lnTo>
                    <a:pt x="570886" y="0"/>
                  </a:lnTo>
                  <a:cubicBezTo>
                    <a:pt x="606295" y="0"/>
                    <a:pt x="635000" y="28705"/>
                    <a:pt x="635000" y="64114"/>
                  </a:cubicBezTo>
                  <a:lnTo>
                    <a:pt x="635000" y="354986"/>
                  </a:lnTo>
                  <a:cubicBezTo>
                    <a:pt x="635000" y="390395"/>
                    <a:pt x="606295" y="419100"/>
                    <a:pt x="570886" y="419100"/>
                  </a:cubicBezTo>
                  <a:lnTo>
                    <a:pt x="64114" y="419100"/>
                  </a:lnTo>
                  <a:cubicBezTo>
                    <a:pt x="28705" y="419100"/>
                    <a:pt x="0" y="390395"/>
                    <a:pt x="0" y="354986"/>
                  </a:cubicBezTo>
                  <a:lnTo>
                    <a:pt x="0" y="64114"/>
                  </a:lnTo>
                  <a:cubicBezTo>
                    <a:pt x="0" y="28705"/>
                    <a:pt x="28705" y="0"/>
                    <a:pt x="64114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BURNDOWN CHART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818682" y="3016193"/>
            <a:ext cx="2564379" cy="1556585"/>
            <a:chOff x="0" y="0"/>
            <a:chExt cx="690442" cy="4191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58965" y="0"/>
                  </a:moveTo>
                  <a:lnTo>
                    <a:pt x="631476" y="0"/>
                  </a:lnTo>
                  <a:cubicBezTo>
                    <a:pt x="647115" y="0"/>
                    <a:pt x="662113" y="6212"/>
                    <a:pt x="673171" y="17271"/>
                  </a:cubicBezTo>
                  <a:cubicBezTo>
                    <a:pt x="684229" y="28329"/>
                    <a:pt x="690442" y="43327"/>
                    <a:pt x="690442" y="58965"/>
                  </a:cubicBezTo>
                  <a:lnTo>
                    <a:pt x="690442" y="360135"/>
                  </a:lnTo>
                  <a:cubicBezTo>
                    <a:pt x="690442" y="375773"/>
                    <a:pt x="684229" y="390771"/>
                    <a:pt x="673171" y="401829"/>
                  </a:cubicBezTo>
                  <a:cubicBezTo>
                    <a:pt x="662113" y="412888"/>
                    <a:pt x="647115" y="419100"/>
                    <a:pt x="631476" y="419100"/>
                  </a:cubicBezTo>
                  <a:lnTo>
                    <a:pt x="58965" y="419100"/>
                  </a:lnTo>
                  <a:cubicBezTo>
                    <a:pt x="43327" y="419100"/>
                    <a:pt x="28329" y="412888"/>
                    <a:pt x="17271" y="401829"/>
                  </a:cubicBezTo>
                  <a:cubicBezTo>
                    <a:pt x="6212" y="390771"/>
                    <a:pt x="0" y="375773"/>
                    <a:pt x="0" y="360135"/>
                  </a:cubicBezTo>
                  <a:lnTo>
                    <a:pt x="0" y="58965"/>
                  </a:lnTo>
                  <a:cubicBezTo>
                    <a:pt x="0" y="43327"/>
                    <a:pt x="6212" y="28329"/>
                    <a:pt x="17271" y="17271"/>
                  </a:cubicBezTo>
                  <a:cubicBezTo>
                    <a:pt x="28329" y="6212"/>
                    <a:pt x="43327" y="0"/>
                    <a:pt x="5896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690442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RETROSPECTIVE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5014706" y="3016193"/>
            <a:ext cx="2358462" cy="1556585"/>
            <a:chOff x="0" y="0"/>
            <a:chExt cx="635000" cy="4191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114" y="0"/>
                  </a:moveTo>
                  <a:lnTo>
                    <a:pt x="570886" y="0"/>
                  </a:lnTo>
                  <a:cubicBezTo>
                    <a:pt x="606295" y="0"/>
                    <a:pt x="635000" y="28705"/>
                    <a:pt x="635000" y="64114"/>
                  </a:cubicBezTo>
                  <a:lnTo>
                    <a:pt x="635000" y="354986"/>
                  </a:lnTo>
                  <a:cubicBezTo>
                    <a:pt x="635000" y="390395"/>
                    <a:pt x="606295" y="419100"/>
                    <a:pt x="570886" y="419100"/>
                  </a:cubicBezTo>
                  <a:lnTo>
                    <a:pt x="64114" y="419100"/>
                  </a:lnTo>
                  <a:cubicBezTo>
                    <a:pt x="28705" y="419100"/>
                    <a:pt x="0" y="390395"/>
                    <a:pt x="0" y="354986"/>
                  </a:cubicBezTo>
                  <a:lnTo>
                    <a:pt x="0" y="64114"/>
                  </a:lnTo>
                  <a:cubicBezTo>
                    <a:pt x="0" y="28705"/>
                    <a:pt x="28705" y="0"/>
                    <a:pt x="64114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635000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DAILY MEETING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10649150" y="2682805"/>
            <a:ext cx="666777" cy="666777"/>
          </a:xfrm>
          <a:custGeom>
            <a:avLst/>
            <a:gdLst/>
            <a:ahLst/>
            <a:cxnLst/>
            <a:rect l="l" t="t" r="r" b="b"/>
            <a:pathLst>
              <a:path w="666777" h="666777">
                <a:moveTo>
                  <a:pt x="0" y="0"/>
                </a:moveTo>
                <a:lnTo>
                  <a:pt x="666777" y="0"/>
                </a:lnTo>
                <a:lnTo>
                  <a:pt x="666777" y="666777"/>
                </a:lnTo>
                <a:lnTo>
                  <a:pt x="0" y="6667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6" name="Freeform 36"/>
          <p:cNvSpPr/>
          <p:nvPr/>
        </p:nvSpPr>
        <p:spPr>
          <a:xfrm>
            <a:off x="13843756" y="2682805"/>
            <a:ext cx="666777" cy="666777"/>
          </a:xfrm>
          <a:custGeom>
            <a:avLst/>
            <a:gdLst/>
            <a:ahLst/>
            <a:cxnLst/>
            <a:rect l="l" t="t" r="r" b="b"/>
            <a:pathLst>
              <a:path w="666777" h="666777">
                <a:moveTo>
                  <a:pt x="0" y="0"/>
                </a:moveTo>
                <a:lnTo>
                  <a:pt x="666777" y="0"/>
                </a:lnTo>
                <a:lnTo>
                  <a:pt x="666777" y="666777"/>
                </a:lnTo>
                <a:lnTo>
                  <a:pt x="0" y="6667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7" name="Freeform 37"/>
          <p:cNvSpPr/>
          <p:nvPr/>
        </p:nvSpPr>
        <p:spPr>
          <a:xfrm>
            <a:off x="17040083" y="2682805"/>
            <a:ext cx="666777" cy="666777"/>
          </a:xfrm>
          <a:custGeom>
            <a:avLst/>
            <a:gdLst/>
            <a:ahLst/>
            <a:cxnLst/>
            <a:rect l="l" t="t" r="r" b="b"/>
            <a:pathLst>
              <a:path w="666777" h="666777">
                <a:moveTo>
                  <a:pt x="0" y="0"/>
                </a:moveTo>
                <a:lnTo>
                  <a:pt x="666777" y="0"/>
                </a:lnTo>
                <a:lnTo>
                  <a:pt x="666777" y="666777"/>
                </a:lnTo>
                <a:lnTo>
                  <a:pt x="0" y="6667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8" name="TextBox 3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15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04920" y="2087881"/>
            <a:ext cx="16678160" cy="7046523"/>
          </a:xfrm>
          <a:custGeom>
            <a:avLst/>
            <a:gdLst/>
            <a:ahLst/>
            <a:cxnLst/>
            <a:rect l="l" t="t" r="r" b="b"/>
            <a:pathLst>
              <a:path w="16678160" h="7046523">
                <a:moveTo>
                  <a:pt x="0" y="0"/>
                </a:moveTo>
                <a:lnTo>
                  <a:pt x="16678160" y="0"/>
                </a:lnTo>
                <a:lnTo>
                  <a:pt x="16678160" y="7046522"/>
                </a:lnTo>
                <a:lnTo>
                  <a:pt x="0" y="70465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Burndown Chart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16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04737" y="2420770"/>
            <a:ext cx="16639919" cy="5033576"/>
          </a:xfrm>
          <a:custGeom>
            <a:avLst/>
            <a:gdLst/>
            <a:ahLst/>
            <a:cxnLst/>
            <a:rect l="l" t="t" r="r" b="b"/>
            <a:pathLst>
              <a:path w="16639919" h="5033576">
                <a:moveTo>
                  <a:pt x="0" y="0"/>
                </a:moveTo>
                <a:lnTo>
                  <a:pt x="16639919" y="0"/>
                </a:lnTo>
                <a:lnTo>
                  <a:pt x="16639919" y="5033576"/>
                </a:lnTo>
                <a:lnTo>
                  <a:pt x="0" y="5033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Retrospective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17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21271" y="3481663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Iteración Sprint 1</a:t>
            </a:r>
          </a:p>
        </p:txBody>
      </p:sp>
      <p:sp>
        <p:nvSpPr>
          <p:cNvPr id="3" name="Freeform 3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18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Resumen Sprint 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658197" y="6500696"/>
            <a:ext cx="2351605" cy="1552059"/>
            <a:chOff x="0" y="0"/>
            <a:chExt cx="635000" cy="4191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CRUD DE USUARIO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43514" y="6500696"/>
            <a:ext cx="2351605" cy="1552059"/>
            <a:chOff x="0" y="0"/>
            <a:chExt cx="635000" cy="419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CONFIGURACIÓN DE PERMISOS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30246" y="6500696"/>
            <a:ext cx="2351605" cy="1552059"/>
            <a:chOff x="0" y="0"/>
            <a:chExt cx="635000" cy="4191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PIPELINE DE INGESTA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5677382" y="6168277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8862700" y="6168277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12049734" y="6168277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511582" y="229849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Duración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88874" y="5596777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Tareas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2055757" y="3173937"/>
            <a:ext cx="3622400" cy="1044191"/>
            <a:chOff x="0" y="0"/>
            <a:chExt cx="635000" cy="18304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35000" cy="183045"/>
            </a:xfrm>
            <a:custGeom>
              <a:avLst/>
              <a:gdLst/>
              <a:ahLst/>
              <a:cxnLst/>
              <a:rect l="l" t="t" r="r" b="b"/>
              <a:pathLst>
                <a:path w="635000" h="183045">
                  <a:moveTo>
                    <a:pt x="41743" y="0"/>
                  </a:moveTo>
                  <a:lnTo>
                    <a:pt x="593257" y="0"/>
                  </a:lnTo>
                  <a:cubicBezTo>
                    <a:pt x="616311" y="0"/>
                    <a:pt x="635000" y="18689"/>
                    <a:pt x="635000" y="41743"/>
                  </a:cubicBezTo>
                  <a:lnTo>
                    <a:pt x="635000" y="141302"/>
                  </a:lnTo>
                  <a:cubicBezTo>
                    <a:pt x="635000" y="164356"/>
                    <a:pt x="616311" y="183045"/>
                    <a:pt x="593257" y="183045"/>
                  </a:cubicBezTo>
                  <a:lnTo>
                    <a:pt x="41743" y="183045"/>
                  </a:lnTo>
                  <a:cubicBezTo>
                    <a:pt x="30672" y="183045"/>
                    <a:pt x="20055" y="178647"/>
                    <a:pt x="12226" y="170819"/>
                  </a:cubicBezTo>
                  <a:cubicBezTo>
                    <a:pt x="4398" y="162990"/>
                    <a:pt x="0" y="152373"/>
                    <a:pt x="0" y="141302"/>
                  </a:cubicBezTo>
                  <a:lnTo>
                    <a:pt x="0" y="41743"/>
                  </a:lnTo>
                  <a:cubicBezTo>
                    <a:pt x="0" y="18689"/>
                    <a:pt x="18689" y="0"/>
                    <a:pt x="4174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635000" cy="2211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2 SEMANAS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9845154" y="216408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Evidencias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0962329" y="2795294"/>
            <a:ext cx="1701950" cy="1123287"/>
            <a:chOff x="0" y="0"/>
            <a:chExt cx="635000" cy="4191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BURNDOWN CHART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3267669" y="2795294"/>
            <a:ext cx="1850546" cy="1123287"/>
            <a:chOff x="0" y="0"/>
            <a:chExt cx="690442" cy="4191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19050"/>
              <a:ext cx="690442" cy="438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r>
                <a:rPr lang="en-US" sz="1300" b="1" spc="16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RETROSPECTIVE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5574034" y="2795294"/>
            <a:ext cx="1701950" cy="1123287"/>
            <a:chOff x="0" y="0"/>
            <a:chExt cx="635000" cy="4191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DAILY MEETING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12423694" y="2554709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6" name="Freeform 36"/>
          <p:cNvSpPr/>
          <p:nvPr/>
        </p:nvSpPr>
        <p:spPr>
          <a:xfrm>
            <a:off x="14729034" y="2554709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7" name="Freeform 37"/>
          <p:cNvSpPr/>
          <p:nvPr/>
        </p:nvSpPr>
        <p:spPr>
          <a:xfrm>
            <a:off x="17035617" y="2554709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8" name="Group 38"/>
          <p:cNvGrpSpPr/>
          <p:nvPr/>
        </p:nvGrpSpPr>
        <p:grpSpPr>
          <a:xfrm>
            <a:off x="10962329" y="4159165"/>
            <a:ext cx="1701950" cy="1123287"/>
            <a:chOff x="0" y="0"/>
            <a:chExt cx="635000" cy="4191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IMPEDIMENT LOG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267669" y="4159165"/>
            <a:ext cx="1850546" cy="1123287"/>
            <a:chOff x="0" y="0"/>
            <a:chExt cx="690442" cy="4191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690442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REVIEW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5574034" y="4159165"/>
            <a:ext cx="1701950" cy="1123287"/>
            <a:chOff x="0" y="0"/>
            <a:chExt cx="635000" cy="4191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BACKLOG</a:t>
              </a:r>
            </a:p>
          </p:txBody>
        </p:sp>
      </p:grpSp>
      <p:sp>
        <p:nvSpPr>
          <p:cNvPr id="47" name="Freeform 47"/>
          <p:cNvSpPr/>
          <p:nvPr/>
        </p:nvSpPr>
        <p:spPr>
          <a:xfrm>
            <a:off x="12423694" y="3918580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8" name="Freeform 48"/>
          <p:cNvSpPr/>
          <p:nvPr/>
        </p:nvSpPr>
        <p:spPr>
          <a:xfrm>
            <a:off x="14729034" y="3918580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9" name="Freeform 49"/>
          <p:cNvSpPr/>
          <p:nvPr/>
        </p:nvSpPr>
        <p:spPr>
          <a:xfrm>
            <a:off x="17035617" y="3918580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0"/>
                </a:lnTo>
                <a:lnTo>
                  <a:pt x="0" y="4811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0" name="Group 50"/>
          <p:cNvGrpSpPr/>
          <p:nvPr/>
        </p:nvGrpSpPr>
        <p:grpSpPr>
          <a:xfrm>
            <a:off x="3658197" y="8222810"/>
            <a:ext cx="2351605" cy="1552059"/>
            <a:chOff x="0" y="0"/>
            <a:chExt cx="635000" cy="4191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LIMPIEZA DE DATOS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792395" y="8222810"/>
            <a:ext cx="2351605" cy="1552059"/>
            <a:chOff x="0" y="0"/>
            <a:chExt cx="635000" cy="4191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CREACIÓN MODELO DATA WAREHOUSE</a:t>
              </a:r>
            </a:p>
          </p:txBody>
        </p:sp>
      </p:grpSp>
      <p:sp>
        <p:nvSpPr>
          <p:cNvPr id="56" name="Freeform 56"/>
          <p:cNvSpPr/>
          <p:nvPr/>
        </p:nvSpPr>
        <p:spPr>
          <a:xfrm>
            <a:off x="5677382" y="7890391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7" name="Freeform 57"/>
          <p:cNvSpPr/>
          <p:nvPr/>
        </p:nvSpPr>
        <p:spPr>
          <a:xfrm>
            <a:off x="8862700" y="7890391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8" name="Group 58"/>
          <p:cNvGrpSpPr/>
          <p:nvPr/>
        </p:nvGrpSpPr>
        <p:grpSpPr>
          <a:xfrm>
            <a:off x="12945976" y="6581879"/>
            <a:ext cx="2351605" cy="1552059"/>
            <a:chOff x="0" y="0"/>
            <a:chExt cx="635000" cy="4191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VISTA GEOGRÁFICA POWER BI</a:t>
              </a:r>
            </a:p>
          </p:txBody>
        </p:sp>
      </p:grpSp>
      <p:sp>
        <p:nvSpPr>
          <p:cNvPr id="61" name="Freeform 61"/>
          <p:cNvSpPr/>
          <p:nvPr/>
        </p:nvSpPr>
        <p:spPr>
          <a:xfrm>
            <a:off x="14965464" y="624946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62" name="Group 62"/>
          <p:cNvGrpSpPr/>
          <p:nvPr/>
        </p:nvGrpSpPr>
        <p:grpSpPr>
          <a:xfrm>
            <a:off x="10030246" y="8222810"/>
            <a:ext cx="2351605" cy="1552059"/>
            <a:chOff x="0" y="0"/>
            <a:chExt cx="635000" cy="4191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VISTA COLEGIO EN POWER BI</a:t>
              </a:r>
            </a:p>
          </p:txBody>
        </p:sp>
      </p:grpSp>
      <p:sp>
        <p:nvSpPr>
          <p:cNvPr id="65" name="Freeform 65"/>
          <p:cNvSpPr/>
          <p:nvPr/>
        </p:nvSpPr>
        <p:spPr>
          <a:xfrm>
            <a:off x="12091275" y="8052756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66" name="Group 66"/>
          <p:cNvGrpSpPr/>
          <p:nvPr/>
        </p:nvGrpSpPr>
        <p:grpSpPr>
          <a:xfrm>
            <a:off x="8884492" y="3356937"/>
            <a:ext cx="1701950" cy="1123287"/>
            <a:chOff x="0" y="0"/>
            <a:chExt cx="635000" cy="41910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PLAN DE PRUEBAS</a:t>
              </a:r>
            </a:p>
          </p:txBody>
        </p:sp>
      </p:grpSp>
      <p:sp>
        <p:nvSpPr>
          <p:cNvPr id="69" name="Freeform 69"/>
          <p:cNvSpPr/>
          <p:nvPr/>
        </p:nvSpPr>
        <p:spPr>
          <a:xfrm>
            <a:off x="10345856" y="3236644"/>
            <a:ext cx="481170" cy="481170"/>
          </a:xfrm>
          <a:custGeom>
            <a:avLst/>
            <a:gdLst/>
            <a:ahLst/>
            <a:cxnLst/>
            <a:rect l="l" t="t" r="r" b="b"/>
            <a:pathLst>
              <a:path w="481170" h="481170">
                <a:moveTo>
                  <a:pt x="0" y="0"/>
                </a:moveTo>
                <a:lnTo>
                  <a:pt x="481170" y="0"/>
                </a:lnTo>
                <a:lnTo>
                  <a:pt x="481170" y="481171"/>
                </a:lnTo>
                <a:lnTo>
                  <a:pt x="0" y="481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0" name="TextBox 7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19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04737" y="2087881"/>
            <a:ext cx="16902123" cy="6507317"/>
          </a:xfrm>
          <a:custGeom>
            <a:avLst/>
            <a:gdLst/>
            <a:ahLst/>
            <a:cxnLst/>
            <a:rect l="l" t="t" r="r" b="b"/>
            <a:pathLst>
              <a:path w="16902123" h="6507317">
                <a:moveTo>
                  <a:pt x="0" y="0"/>
                </a:moveTo>
                <a:lnTo>
                  <a:pt x="16902123" y="0"/>
                </a:lnTo>
                <a:lnTo>
                  <a:pt x="16902123" y="6507317"/>
                </a:lnTo>
                <a:lnTo>
                  <a:pt x="0" y="65073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028700" y="2087881"/>
            <a:ext cx="16678160" cy="7004827"/>
          </a:xfrm>
          <a:custGeom>
            <a:avLst/>
            <a:gdLst/>
            <a:ahLst/>
            <a:cxnLst/>
            <a:rect l="l" t="t" r="r" b="b"/>
            <a:pathLst>
              <a:path w="16678160" h="7004827">
                <a:moveTo>
                  <a:pt x="0" y="0"/>
                </a:moveTo>
                <a:lnTo>
                  <a:pt x="16678160" y="0"/>
                </a:lnTo>
                <a:lnTo>
                  <a:pt x="16678160" y="7004827"/>
                </a:lnTo>
                <a:lnTo>
                  <a:pt x="0" y="70048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Burndown Chart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21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581140" y="2087881"/>
            <a:ext cx="17125720" cy="6015409"/>
          </a:xfrm>
          <a:custGeom>
            <a:avLst/>
            <a:gdLst/>
            <a:ahLst/>
            <a:cxnLst/>
            <a:rect l="l" t="t" r="r" b="b"/>
            <a:pathLst>
              <a:path w="17125720" h="6015409">
                <a:moveTo>
                  <a:pt x="0" y="0"/>
                </a:moveTo>
                <a:lnTo>
                  <a:pt x="17125720" y="0"/>
                </a:lnTo>
                <a:lnTo>
                  <a:pt x="17125720" y="6015409"/>
                </a:lnTo>
                <a:lnTo>
                  <a:pt x="0" y="60154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Impediment 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22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28700" y="2087881"/>
            <a:ext cx="16230600" cy="1584980"/>
            <a:chOff x="0" y="0"/>
            <a:chExt cx="4274726" cy="4174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417443"/>
            </a:xfrm>
            <a:custGeom>
              <a:avLst/>
              <a:gdLst/>
              <a:ahLst/>
              <a:cxnLst/>
              <a:rect l="l" t="t" r="r" b="b"/>
              <a:pathLst>
                <a:path w="4274726" h="417443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393117"/>
                  </a:lnTo>
                  <a:cubicBezTo>
                    <a:pt x="4274726" y="406552"/>
                    <a:pt x="4263834" y="417443"/>
                    <a:pt x="4250399" y="417443"/>
                  </a:cubicBezTo>
                  <a:lnTo>
                    <a:pt x="24327" y="417443"/>
                  </a:lnTo>
                  <a:cubicBezTo>
                    <a:pt x="17875" y="417443"/>
                    <a:pt x="11687" y="414880"/>
                    <a:pt x="7125" y="410318"/>
                  </a:cubicBezTo>
                  <a:cubicBezTo>
                    <a:pt x="2563" y="405756"/>
                    <a:pt x="0" y="399568"/>
                    <a:pt x="0" y="393117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274726" cy="4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5796112"/>
            <a:ext cx="4741747" cy="2225164"/>
            <a:chOff x="0" y="0"/>
            <a:chExt cx="1248855" cy="58605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48855" cy="586051"/>
            </a:xfrm>
            <a:custGeom>
              <a:avLst/>
              <a:gdLst/>
              <a:ahLst/>
              <a:cxnLst/>
              <a:rect l="l" t="t" r="r" b="b"/>
              <a:pathLst>
                <a:path w="1248855" h="586051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502783"/>
                  </a:lnTo>
                  <a:cubicBezTo>
                    <a:pt x="1248855" y="548771"/>
                    <a:pt x="1211575" y="586051"/>
                    <a:pt x="1165587" y="586051"/>
                  </a:cubicBezTo>
                  <a:lnTo>
                    <a:pt x="83268" y="586051"/>
                  </a:lnTo>
                  <a:cubicBezTo>
                    <a:pt x="61184" y="586051"/>
                    <a:pt x="40005" y="577278"/>
                    <a:pt x="24389" y="561663"/>
                  </a:cubicBezTo>
                  <a:cubicBezTo>
                    <a:pt x="8773" y="546047"/>
                    <a:pt x="0" y="524867"/>
                    <a:pt x="0" y="502783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248855" cy="6146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89622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Review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6216" y="2319666"/>
            <a:ext cx="15859718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- DISEÑAR UN REPOSITORIO ÚNICO DE INFORMACIÓN QUE PERMITA AL ÁREA DE ADMISIÓN CONSULTAR DATOS RELEVANTES DE MANERA EFICIENTE Y EN TIEMPO REAL.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97563" y="6227507"/>
            <a:ext cx="3604022" cy="1369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 MÉTRICAS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PLANIFICADAS: 9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COMPLETADAS: 8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908611" y="5535445"/>
            <a:ext cx="11276033" cy="1596325"/>
            <a:chOff x="0" y="0"/>
            <a:chExt cx="2969820" cy="4204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69820" cy="420431"/>
            </a:xfrm>
            <a:custGeom>
              <a:avLst/>
              <a:gdLst/>
              <a:ahLst/>
              <a:cxnLst/>
              <a:rect l="l" t="t" r="r" b="b"/>
              <a:pathLst>
                <a:path w="2969820" h="420431">
                  <a:moveTo>
                    <a:pt x="35016" y="0"/>
                  </a:moveTo>
                  <a:lnTo>
                    <a:pt x="2934804" y="0"/>
                  </a:lnTo>
                  <a:cubicBezTo>
                    <a:pt x="2944091" y="0"/>
                    <a:pt x="2952997" y="3689"/>
                    <a:pt x="2959564" y="10256"/>
                  </a:cubicBezTo>
                  <a:cubicBezTo>
                    <a:pt x="2966130" y="16823"/>
                    <a:pt x="2969820" y="25729"/>
                    <a:pt x="2969820" y="35016"/>
                  </a:cubicBezTo>
                  <a:lnTo>
                    <a:pt x="2969820" y="385416"/>
                  </a:lnTo>
                  <a:cubicBezTo>
                    <a:pt x="2969820" y="394702"/>
                    <a:pt x="2966130" y="403609"/>
                    <a:pt x="2959564" y="410175"/>
                  </a:cubicBezTo>
                  <a:cubicBezTo>
                    <a:pt x="2952997" y="416742"/>
                    <a:pt x="2944091" y="420431"/>
                    <a:pt x="2934804" y="420431"/>
                  </a:cubicBezTo>
                  <a:lnTo>
                    <a:pt x="35016" y="420431"/>
                  </a:lnTo>
                  <a:cubicBezTo>
                    <a:pt x="25729" y="420431"/>
                    <a:pt x="16823" y="416742"/>
                    <a:pt x="10256" y="410175"/>
                  </a:cubicBezTo>
                  <a:cubicBezTo>
                    <a:pt x="3689" y="403609"/>
                    <a:pt x="0" y="394702"/>
                    <a:pt x="0" y="385416"/>
                  </a:cubicBezTo>
                  <a:lnTo>
                    <a:pt x="0" y="35016"/>
                  </a:lnTo>
                  <a:cubicBezTo>
                    <a:pt x="0" y="25729"/>
                    <a:pt x="3689" y="16823"/>
                    <a:pt x="10256" y="10256"/>
                  </a:cubicBezTo>
                  <a:cubicBezTo>
                    <a:pt x="16823" y="3689"/>
                    <a:pt x="25729" y="0"/>
                    <a:pt x="35016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2969820" cy="449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162975" y="5767537"/>
            <a:ext cx="10878047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endParaRPr/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POSITIVO: LA VISTA DEL COLEGIO, ME GUSTA QUE TENGA EL MAPA DEL SECTOR PARA MAS CLARIDAD AL MOMENTO DE PLANIFICAR EL VIAJE.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132204" y="4291450"/>
            <a:ext cx="4741747" cy="834420"/>
            <a:chOff x="0" y="0"/>
            <a:chExt cx="1248855" cy="2197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48855" cy="219765"/>
            </a:xfrm>
            <a:custGeom>
              <a:avLst/>
              <a:gdLst/>
              <a:ahLst/>
              <a:cxnLst/>
              <a:rect l="l" t="t" r="r" b="b"/>
              <a:pathLst>
                <a:path w="1248855" h="219765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136497"/>
                  </a:lnTo>
                  <a:cubicBezTo>
                    <a:pt x="1248855" y="158581"/>
                    <a:pt x="1240082" y="179760"/>
                    <a:pt x="1224466" y="195376"/>
                  </a:cubicBezTo>
                  <a:cubicBezTo>
                    <a:pt x="1208851" y="210992"/>
                    <a:pt x="1187671" y="219765"/>
                    <a:pt x="1165587" y="219765"/>
                  </a:cubicBezTo>
                  <a:lnTo>
                    <a:pt x="83268" y="219765"/>
                  </a:lnTo>
                  <a:cubicBezTo>
                    <a:pt x="37281" y="219765"/>
                    <a:pt x="0" y="182484"/>
                    <a:pt x="0" y="136497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48855" cy="2483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455899" y="4579922"/>
            <a:ext cx="4152424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FEEDBACK DEL PRODUCT OWNER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879577" y="7497926"/>
            <a:ext cx="11276033" cy="691120"/>
            <a:chOff x="0" y="0"/>
            <a:chExt cx="2969820" cy="1820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969820" cy="182023"/>
            </a:xfrm>
            <a:custGeom>
              <a:avLst/>
              <a:gdLst/>
              <a:ahLst/>
              <a:cxnLst/>
              <a:rect l="l" t="t" r="r" b="b"/>
              <a:pathLst>
                <a:path w="2969820" h="182023">
                  <a:moveTo>
                    <a:pt x="35016" y="0"/>
                  </a:moveTo>
                  <a:lnTo>
                    <a:pt x="2934804" y="0"/>
                  </a:lnTo>
                  <a:cubicBezTo>
                    <a:pt x="2944091" y="0"/>
                    <a:pt x="2952997" y="3689"/>
                    <a:pt x="2959564" y="10256"/>
                  </a:cubicBezTo>
                  <a:cubicBezTo>
                    <a:pt x="2966130" y="16823"/>
                    <a:pt x="2969820" y="25729"/>
                    <a:pt x="2969820" y="35016"/>
                  </a:cubicBezTo>
                  <a:lnTo>
                    <a:pt x="2969820" y="147008"/>
                  </a:lnTo>
                  <a:cubicBezTo>
                    <a:pt x="2969820" y="156294"/>
                    <a:pt x="2966130" y="165201"/>
                    <a:pt x="2959564" y="171767"/>
                  </a:cubicBezTo>
                  <a:cubicBezTo>
                    <a:pt x="2952997" y="178334"/>
                    <a:pt x="2944091" y="182023"/>
                    <a:pt x="2934804" y="182023"/>
                  </a:cubicBezTo>
                  <a:lnTo>
                    <a:pt x="35016" y="182023"/>
                  </a:lnTo>
                  <a:cubicBezTo>
                    <a:pt x="25729" y="182023"/>
                    <a:pt x="16823" y="178334"/>
                    <a:pt x="10256" y="171767"/>
                  </a:cubicBezTo>
                  <a:cubicBezTo>
                    <a:pt x="3689" y="165201"/>
                    <a:pt x="0" y="156294"/>
                    <a:pt x="0" y="147008"/>
                  </a:cubicBezTo>
                  <a:lnTo>
                    <a:pt x="0" y="35016"/>
                  </a:lnTo>
                  <a:cubicBezTo>
                    <a:pt x="0" y="25729"/>
                    <a:pt x="3689" y="16823"/>
                    <a:pt x="10256" y="10256"/>
                  </a:cubicBezTo>
                  <a:cubicBezTo>
                    <a:pt x="16823" y="3689"/>
                    <a:pt x="25729" y="0"/>
                    <a:pt x="35016" y="0"/>
                  </a:cubicBezTo>
                  <a:close/>
                </a:path>
              </a:pathLst>
            </a:custGeom>
            <a:solidFill>
              <a:srgbClr val="E0666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969820" cy="2105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260158" y="7697118"/>
            <a:ext cx="4683681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MEJORAR: NADA POR EL MOMENTO.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23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21271" y="3481663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Iteración Sprint 2</a:t>
            </a:r>
          </a:p>
        </p:txBody>
      </p:sp>
      <p:sp>
        <p:nvSpPr>
          <p:cNvPr id="3" name="Freeform 3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24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2991888" y="6367069"/>
            <a:ext cx="2351605" cy="1552059"/>
            <a:chOff x="0" y="0"/>
            <a:chExt cx="635000" cy="419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ACCESO SEGURO AL DASHBOARD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78300" y="6344588"/>
            <a:ext cx="2351605" cy="1552059"/>
            <a:chOff x="0" y="0"/>
            <a:chExt cx="635000" cy="419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VISUALIZACIÓN DE TENDENCIAS HISTÓRICAS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50674" y="6344588"/>
            <a:ext cx="2351605" cy="1552059"/>
            <a:chOff x="0" y="0"/>
            <a:chExt cx="635000" cy="4191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spc="192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FILTRO TIPO DE ESTABLECIMIENTO</a:t>
              </a:r>
            </a:p>
          </p:txBody>
        </p:sp>
      </p:grpSp>
      <p:sp>
        <p:nvSpPr>
          <p:cNvPr id="15" name="Freeform 15"/>
          <p:cNvSpPr/>
          <p:nvPr/>
        </p:nvSpPr>
        <p:spPr>
          <a:xfrm>
            <a:off x="4968217" y="6122545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6" name="Group 16"/>
          <p:cNvGrpSpPr/>
          <p:nvPr/>
        </p:nvGrpSpPr>
        <p:grpSpPr>
          <a:xfrm>
            <a:off x="2055757" y="3173937"/>
            <a:ext cx="3622400" cy="1044191"/>
            <a:chOff x="0" y="0"/>
            <a:chExt cx="635000" cy="18304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000" cy="183045"/>
            </a:xfrm>
            <a:custGeom>
              <a:avLst/>
              <a:gdLst/>
              <a:ahLst/>
              <a:cxnLst/>
              <a:rect l="l" t="t" r="r" b="b"/>
              <a:pathLst>
                <a:path w="635000" h="183045">
                  <a:moveTo>
                    <a:pt x="41743" y="0"/>
                  </a:moveTo>
                  <a:lnTo>
                    <a:pt x="593257" y="0"/>
                  </a:lnTo>
                  <a:cubicBezTo>
                    <a:pt x="616311" y="0"/>
                    <a:pt x="635000" y="18689"/>
                    <a:pt x="635000" y="41743"/>
                  </a:cubicBezTo>
                  <a:lnTo>
                    <a:pt x="635000" y="141302"/>
                  </a:lnTo>
                  <a:cubicBezTo>
                    <a:pt x="635000" y="164356"/>
                    <a:pt x="616311" y="183045"/>
                    <a:pt x="593257" y="183045"/>
                  </a:cubicBezTo>
                  <a:lnTo>
                    <a:pt x="41743" y="183045"/>
                  </a:lnTo>
                  <a:cubicBezTo>
                    <a:pt x="30672" y="183045"/>
                    <a:pt x="20055" y="178647"/>
                    <a:pt x="12226" y="170819"/>
                  </a:cubicBezTo>
                  <a:cubicBezTo>
                    <a:pt x="4398" y="162990"/>
                    <a:pt x="0" y="152373"/>
                    <a:pt x="0" y="141302"/>
                  </a:cubicBezTo>
                  <a:lnTo>
                    <a:pt x="0" y="41743"/>
                  </a:lnTo>
                  <a:cubicBezTo>
                    <a:pt x="0" y="18689"/>
                    <a:pt x="18689" y="0"/>
                    <a:pt x="4174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35000" cy="2211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4 SEMANAS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845154" y="216408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Evidencias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301799" y="2795294"/>
            <a:ext cx="1701950" cy="1123287"/>
            <a:chOff x="0" y="0"/>
            <a:chExt cx="635000" cy="4191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BURNDOWN CHART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607139" y="2795294"/>
            <a:ext cx="1850546" cy="1123287"/>
            <a:chOff x="0" y="0"/>
            <a:chExt cx="690442" cy="4191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690442" cy="438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r>
                <a:rPr lang="en-US" sz="1300" b="1" spc="16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RETROSPECTIVE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913503" y="2795294"/>
            <a:ext cx="1701950" cy="1123287"/>
            <a:chOff x="0" y="0"/>
            <a:chExt cx="635000" cy="4191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DAILY MEETING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301799" y="4159165"/>
            <a:ext cx="1701950" cy="1123287"/>
            <a:chOff x="0" y="0"/>
            <a:chExt cx="635000" cy="4191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IMPEDIMENT LOG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607139" y="4159165"/>
            <a:ext cx="1850546" cy="1123287"/>
            <a:chOff x="0" y="0"/>
            <a:chExt cx="690442" cy="4191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690442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REVIEW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913503" y="4159165"/>
            <a:ext cx="1701950" cy="1123287"/>
            <a:chOff x="0" y="0"/>
            <a:chExt cx="635000" cy="4191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BACKLOG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2992663" y="8066702"/>
            <a:ext cx="2351605" cy="1552059"/>
            <a:chOff x="0" y="0"/>
            <a:chExt cx="635000" cy="4191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SEGMENTACIÓN GEOGRÁFICA ESTUDIANTES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178300" y="8066702"/>
            <a:ext cx="2351605" cy="1552059"/>
            <a:chOff x="0" y="0"/>
            <a:chExt cx="635000" cy="4191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VISTA UNIFICADA DE COLEGIO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696357" y="8066702"/>
            <a:ext cx="2351605" cy="1552059"/>
            <a:chOff x="0" y="0"/>
            <a:chExt cx="635000" cy="4191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VISTA SEGMENTACIÓN POR INDUSTRIA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612087" y="6425771"/>
            <a:ext cx="2351605" cy="1552059"/>
            <a:chOff x="0" y="0"/>
            <a:chExt cx="635000" cy="4191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SEGMENTACIÓN ESTUDIANTES TÉCNICOS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612087" y="8147885"/>
            <a:ext cx="2351605" cy="1552059"/>
            <a:chOff x="0" y="0"/>
            <a:chExt cx="635000" cy="4191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PRIORIZACIÓN POR CRECIMIENTO DE MATRÍCULA</a:t>
              </a:r>
            </a:p>
          </p:txBody>
        </p:sp>
      </p:grpSp>
      <p:sp>
        <p:nvSpPr>
          <p:cNvPr id="53" name="Freeform 53"/>
          <p:cNvSpPr/>
          <p:nvPr/>
        </p:nvSpPr>
        <p:spPr>
          <a:xfrm>
            <a:off x="11717013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4" name="Freeform 54"/>
          <p:cNvSpPr/>
          <p:nvPr/>
        </p:nvSpPr>
        <p:spPr>
          <a:xfrm>
            <a:off x="14125266" y="39566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5" name="Freeform 55"/>
          <p:cNvSpPr/>
          <p:nvPr/>
        </p:nvSpPr>
        <p:spPr>
          <a:xfrm>
            <a:off x="16263073" y="39566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6" name="Freeform 56"/>
          <p:cNvSpPr/>
          <p:nvPr/>
        </p:nvSpPr>
        <p:spPr>
          <a:xfrm>
            <a:off x="14125266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7" name="Freeform 57"/>
          <p:cNvSpPr/>
          <p:nvPr/>
        </p:nvSpPr>
        <p:spPr>
          <a:xfrm>
            <a:off x="11671329" y="39185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8" name="Freeform 58"/>
          <p:cNvSpPr/>
          <p:nvPr/>
        </p:nvSpPr>
        <p:spPr>
          <a:xfrm>
            <a:off x="16263073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9" name="Freeform 59"/>
          <p:cNvSpPr/>
          <p:nvPr/>
        </p:nvSpPr>
        <p:spPr>
          <a:xfrm>
            <a:off x="4968991" y="8007023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0" name="Freeform 60"/>
          <p:cNvSpPr/>
          <p:nvPr/>
        </p:nvSpPr>
        <p:spPr>
          <a:xfrm>
            <a:off x="8102415" y="6137502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1" name="Freeform 61"/>
          <p:cNvSpPr/>
          <p:nvPr/>
        </p:nvSpPr>
        <p:spPr>
          <a:xfrm>
            <a:off x="11669860" y="6093352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2" name="Freeform 62"/>
          <p:cNvSpPr/>
          <p:nvPr/>
        </p:nvSpPr>
        <p:spPr>
          <a:xfrm>
            <a:off x="14631273" y="618361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3" name="Freeform 63"/>
          <p:cNvSpPr/>
          <p:nvPr/>
        </p:nvSpPr>
        <p:spPr>
          <a:xfrm>
            <a:off x="14631273" y="7905733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4" name="Freeform 64"/>
          <p:cNvSpPr/>
          <p:nvPr/>
        </p:nvSpPr>
        <p:spPr>
          <a:xfrm>
            <a:off x="11715543" y="7934748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5" name="Freeform 65"/>
          <p:cNvSpPr/>
          <p:nvPr/>
        </p:nvSpPr>
        <p:spPr>
          <a:xfrm>
            <a:off x="8154629" y="7949883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6" name="TextBox 6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618666" y="111442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Resumen Sprint 2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11582" y="229849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Duración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454736" y="5335894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Tareas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04737" y="2087881"/>
            <a:ext cx="16230600" cy="6411087"/>
          </a:xfrm>
          <a:custGeom>
            <a:avLst/>
            <a:gdLst/>
            <a:ahLst/>
            <a:cxnLst/>
            <a:rect l="l" t="t" r="r" b="b"/>
            <a:pathLst>
              <a:path w="16230600" h="6411087">
                <a:moveTo>
                  <a:pt x="0" y="0"/>
                </a:moveTo>
                <a:lnTo>
                  <a:pt x="16230600" y="0"/>
                </a:lnTo>
                <a:lnTo>
                  <a:pt x="16230600" y="6411087"/>
                </a:lnTo>
                <a:lnTo>
                  <a:pt x="0" y="6411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26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728402" y="2087881"/>
            <a:ext cx="15100023" cy="6795010"/>
          </a:xfrm>
          <a:custGeom>
            <a:avLst/>
            <a:gdLst/>
            <a:ahLst/>
            <a:cxnLst/>
            <a:rect l="l" t="t" r="r" b="b"/>
            <a:pathLst>
              <a:path w="15100023" h="6795010">
                <a:moveTo>
                  <a:pt x="0" y="0"/>
                </a:moveTo>
                <a:lnTo>
                  <a:pt x="15100022" y="0"/>
                </a:lnTo>
                <a:lnTo>
                  <a:pt x="15100022" y="6795010"/>
                </a:lnTo>
                <a:lnTo>
                  <a:pt x="0" y="67950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27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581140" y="2395127"/>
            <a:ext cx="17125794" cy="6679060"/>
          </a:xfrm>
          <a:custGeom>
            <a:avLst/>
            <a:gdLst/>
            <a:ahLst/>
            <a:cxnLst/>
            <a:rect l="l" t="t" r="r" b="b"/>
            <a:pathLst>
              <a:path w="17125794" h="6679060">
                <a:moveTo>
                  <a:pt x="0" y="0"/>
                </a:moveTo>
                <a:lnTo>
                  <a:pt x="17125795" y="0"/>
                </a:lnTo>
                <a:lnTo>
                  <a:pt x="17125795" y="6679060"/>
                </a:lnTo>
                <a:lnTo>
                  <a:pt x="0" y="66790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Burndown Chart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28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336753" y="1935481"/>
            <a:ext cx="17690979" cy="7045798"/>
          </a:xfrm>
          <a:custGeom>
            <a:avLst/>
            <a:gdLst/>
            <a:ahLst/>
            <a:cxnLst/>
            <a:rect l="l" t="t" r="r" b="b"/>
            <a:pathLst>
              <a:path w="17690979" h="7045798">
                <a:moveTo>
                  <a:pt x="0" y="0"/>
                </a:moveTo>
                <a:lnTo>
                  <a:pt x="17690978" y="0"/>
                </a:lnTo>
                <a:lnTo>
                  <a:pt x="17690978" y="7045797"/>
                </a:lnTo>
                <a:lnTo>
                  <a:pt x="0" y="70457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17" b="-21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Impediment 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29</a:t>
            </a:r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28700" y="2087881"/>
            <a:ext cx="16230600" cy="1584980"/>
            <a:chOff x="0" y="0"/>
            <a:chExt cx="4274726" cy="4174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417443"/>
            </a:xfrm>
            <a:custGeom>
              <a:avLst/>
              <a:gdLst/>
              <a:ahLst/>
              <a:cxnLst/>
              <a:rect l="l" t="t" r="r" b="b"/>
              <a:pathLst>
                <a:path w="4274726" h="417443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393117"/>
                  </a:lnTo>
                  <a:cubicBezTo>
                    <a:pt x="4274726" y="406552"/>
                    <a:pt x="4263834" y="417443"/>
                    <a:pt x="4250399" y="417443"/>
                  </a:cubicBezTo>
                  <a:lnTo>
                    <a:pt x="24327" y="417443"/>
                  </a:lnTo>
                  <a:cubicBezTo>
                    <a:pt x="17875" y="417443"/>
                    <a:pt x="11687" y="414880"/>
                    <a:pt x="7125" y="410318"/>
                  </a:cubicBezTo>
                  <a:cubicBezTo>
                    <a:pt x="2563" y="405756"/>
                    <a:pt x="0" y="399568"/>
                    <a:pt x="0" y="393117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274726" cy="4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5796112"/>
            <a:ext cx="4741747" cy="2225164"/>
            <a:chOff x="0" y="0"/>
            <a:chExt cx="1248855" cy="58605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48855" cy="586051"/>
            </a:xfrm>
            <a:custGeom>
              <a:avLst/>
              <a:gdLst/>
              <a:ahLst/>
              <a:cxnLst/>
              <a:rect l="l" t="t" r="r" b="b"/>
              <a:pathLst>
                <a:path w="1248855" h="586051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502783"/>
                  </a:lnTo>
                  <a:cubicBezTo>
                    <a:pt x="1248855" y="548771"/>
                    <a:pt x="1211575" y="586051"/>
                    <a:pt x="1165587" y="586051"/>
                  </a:cubicBezTo>
                  <a:lnTo>
                    <a:pt x="83268" y="586051"/>
                  </a:lnTo>
                  <a:cubicBezTo>
                    <a:pt x="61184" y="586051"/>
                    <a:pt x="40005" y="577278"/>
                    <a:pt x="24389" y="561663"/>
                  </a:cubicBezTo>
                  <a:cubicBezTo>
                    <a:pt x="8773" y="546047"/>
                    <a:pt x="0" y="524867"/>
                    <a:pt x="0" y="502783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248855" cy="6146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89622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Review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6216" y="2319666"/>
            <a:ext cx="15859718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- IMPLEMENTAR DASHBOARD INTERACTIVOS QUE SEAN CLAROS Y CONCISOS A LA PLATAFORMA WEB DE ADMISSION ANALYTICS.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40948" y="6227507"/>
            <a:ext cx="3717250" cy="1369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 MÉTRICAS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PLANIFICADAS: 15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COMPLETADAS: 15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908611" y="5535445"/>
            <a:ext cx="11276033" cy="1596325"/>
            <a:chOff x="0" y="0"/>
            <a:chExt cx="2969820" cy="4204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69820" cy="420431"/>
            </a:xfrm>
            <a:custGeom>
              <a:avLst/>
              <a:gdLst/>
              <a:ahLst/>
              <a:cxnLst/>
              <a:rect l="l" t="t" r="r" b="b"/>
              <a:pathLst>
                <a:path w="2969820" h="420431">
                  <a:moveTo>
                    <a:pt x="35016" y="0"/>
                  </a:moveTo>
                  <a:lnTo>
                    <a:pt x="2934804" y="0"/>
                  </a:lnTo>
                  <a:cubicBezTo>
                    <a:pt x="2944091" y="0"/>
                    <a:pt x="2952997" y="3689"/>
                    <a:pt x="2959564" y="10256"/>
                  </a:cubicBezTo>
                  <a:cubicBezTo>
                    <a:pt x="2966130" y="16823"/>
                    <a:pt x="2969820" y="25729"/>
                    <a:pt x="2969820" y="35016"/>
                  </a:cubicBezTo>
                  <a:lnTo>
                    <a:pt x="2969820" y="385416"/>
                  </a:lnTo>
                  <a:cubicBezTo>
                    <a:pt x="2969820" y="394702"/>
                    <a:pt x="2966130" y="403609"/>
                    <a:pt x="2959564" y="410175"/>
                  </a:cubicBezTo>
                  <a:cubicBezTo>
                    <a:pt x="2952997" y="416742"/>
                    <a:pt x="2944091" y="420431"/>
                    <a:pt x="2934804" y="420431"/>
                  </a:cubicBezTo>
                  <a:lnTo>
                    <a:pt x="35016" y="420431"/>
                  </a:lnTo>
                  <a:cubicBezTo>
                    <a:pt x="25729" y="420431"/>
                    <a:pt x="16823" y="416742"/>
                    <a:pt x="10256" y="410175"/>
                  </a:cubicBezTo>
                  <a:cubicBezTo>
                    <a:pt x="3689" y="403609"/>
                    <a:pt x="0" y="394702"/>
                    <a:pt x="0" y="385416"/>
                  </a:cubicBezTo>
                  <a:lnTo>
                    <a:pt x="0" y="35016"/>
                  </a:lnTo>
                  <a:cubicBezTo>
                    <a:pt x="0" y="25729"/>
                    <a:pt x="3689" y="16823"/>
                    <a:pt x="10256" y="10256"/>
                  </a:cubicBezTo>
                  <a:cubicBezTo>
                    <a:pt x="16823" y="3689"/>
                    <a:pt x="25729" y="0"/>
                    <a:pt x="35016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2969820" cy="449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162975" y="5767537"/>
            <a:ext cx="10878047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endParaRPr/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POSITIVO: LOS GRÁFICOS MUESTRAN UNA GRAN MEJORA RESPECTO A LOS ANTERIORES, LA INFORMACIÓN ESTA MUCHO MÁS CLARA Y MEJOR DISTRIBUIDA.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132204" y="4291450"/>
            <a:ext cx="4741747" cy="834420"/>
            <a:chOff x="0" y="0"/>
            <a:chExt cx="1248855" cy="2197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48855" cy="219765"/>
            </a:xfrm>
            <a:custGeom>
              <a:avLst/>
              <a:gdLst/>
              <a:ahLst/>
              <a:cxnLst/>
              <a:rect l="l" t="t" r="r" b="b"/>
              <a:pathLst>
                <a:path w="1248855" h="219765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136497"/>
                  </a:lnTo>
                  <a:cubicBezTo>
                    <a:pt x="1248855" y="158581"/>
                    <a:pt x="1240082" y="179760"/>
                    <a:pt x="1224466" y="195376"/>
                  </a:cubicBezTo>
                  <a:cubicBezTo>
                    <a:pt x="1208851" y="210992"/>
                    <a:pt x="1187671" y="219765"/>
                    <a:pt x="1165587" y="219765"/>
                  </a:cubicBezTo>
                  <a:lnTo>
                    <a:pt x="83268" y="219765"/>
                  </a:lnTo>
                  <a:cubicBezTo>
                    <a:pt x="37281" y="219765"/>
                    <a:pt x="0" y="182484"/>
                    <a:pt x="0" y="136497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48855" cy="2483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455899" y="4579922"/>
            <a:ext cx="4152424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FEEDBACK DEL PRODUCT OWNER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879577" y="7497926"/>
            <a:ext cx="11276033" cy="691120"/>
            <a:chOff x="0" y="0"/>
            <a:chExt cx="2969820" cy="1820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969820" cy="182023"/>
            </a:xfrm>
            <a:custGeom>
              <a:avLst/>
              <a:gdLst/>
              <a:ahLst/>
              <a:cxnLst/>
              <a:rect l="l" t="t" r="r" b="b"/>
              <a:pathLst>
                <a:path w="2969820" h="182023">
                  <a:moveTo>
                    <a:pt x="35016" y="0"/>
                  </a:moveTo>
                  <a:lnTo>
                    <a:pt x="2934804" y="0"/>
                  </a:lnTo>
                  <a:cubicBezTo>
                    <a:pt x="2944091" y="0"/>
                    <a:pt x="2952997" y="3689"/>
                    <a:pt x="2959564" y="10256"/>
                  </a:cubicBezTo>
                  <a:cubicBezTo>
                    <a:pt x="2966130" y="16823"/>
                    <a:pt x="2969820" y="25729"/>
                    <a:pt x="2969820" y="35016"/>
                  </a:cubicBezTo>
                  <a:lnTo>
                    <a:pt x="2969820" y="147008"/>
                  </a:lnTo>
                  <a:cubicBezTo>
                    <a:pt x="2969820" y="156294"/>
                    <a:pt x="2966130" y="165201"/>
                    <a:pt x="2959564" y="171767"/>
                  </a:cubicBezTo>
                  <a:cubicBezTo>
                    <a:pt x="2952997" y="178334"/>
                    <a:pt x="2944091" y="182023"/>
                    <a:pt x="2934804" y="182023"/>
                  </a:cubicBezTo>
                  <a:lnTo>
                    <a:pt x="35016" y="182023"/>
                  </a:lnTo>
                  <a:cubicBezTo>
                    <a:pt x="25729" y="182023"/>
                    <a:pt x="16823" y="178334"/>
                    <a:pt x="10256" y="171767"/>
                  </a:cubicBezTo>
                  <a:cubicBezTo>
                    <a:pt x="3689" y="165201"/>
                    <a:pt x="0" y="156294"/>
                    <a:pt x="0" y="147008"/>
                  </a:cubicBezTo>
                  <a:lnTo>
                    <a:pt x="0" y="35016"/>
                  </a:lnTo>
                  <a:cubicBezTo>
                    <a:pt x="0" y="25729"/>
                    <a:pt x="3689" y="16823"/>
                    <a:pt x="10256" y="10256"/>
                  </a:cubicBezTo>
                  <a:cubicBezTo>
                    <a:pt x="16823" y="3689"/>
                    <a:pt x="25729" y="0"/>
                    <a:pt x="35016" y="0"/>
                  </a:cubicBezTo>
                  <a:close/>
                </a:path>
              </a:pathLst>
            </a:custGeom>
            <a:solidFill>
              <a:srgbClr val="E0666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969820" cy="2105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843159" y="7559005"/>
            <a:ext cx="11444841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MEJORAR: LOS FILTROS PUEDEN PRESENTAR ALGUNAS MEJORAS, EN ESPECIAL EL RESTABLECIMIENTO DE ESTOS. YA QUE NO FUNCIONA CON TODOS.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30</a:t>
            </a: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21271" y="3481663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Iteración Sprint 3</a:t>
            </a:r>
          </a:p>
        </p:txBody>
      </p:sp>
      <p:sp>
        <p:nvSpPr>
          <p:cNvPr id="3" name="Freeform 3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31</a:t>
            </a:r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18666" y="1114425"/>
            <a:ext cx="9152907" cy="801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Resumen Sprint 3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658197" y="6500696"/>
            <a:ext cx="2351605" cy="1552059"/>
            <a:chOff x="0" y="0"/>
            <a:chExt cx="635000" cy="4191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FILTRADO Y COMPARACIÓN DE MATRÍCULAS 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43514" y="6500696"/>
            <a:ext cx="2351605" cy="1552059"/>
            <a:chOff x="0" y="0"/>
            <a:chExt cx="635000" cy="419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FILTRO GEOGRÁFICO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30246" y="6500696"/>
            <a:ext cx="2351605" cy="1552059"/>
            <a:chOff x="0" y="0"/>
            <a:chExt cx="635000" cy="4191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HISTORIAL DE VISITAS A COLEGIOS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5677382" y="6168277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TextBox 18"/>
          <p:cNvSpPr txBox="1"/>
          <p:nvPr/>
        </p:nvSpPr>
        <p:spPr>
          <a:xfrm>
            <a:off x="511582" y="229849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Duración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88874" y="5596777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Tareas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2055757" y="3173937"/>
            <a:ext cx="3622400" cy="1044191"/>
            <a:chOff x="0" y="0"/>
            <a:chExt cx="635000" cy="18304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183045"/>
            </a:xfrm>
            <a:custGeom>
              <a:avLst/>
              <a:gdLst/>
              <a:ahLst/>
              <a:cxnLst/>
              <a:rect l="l" t="t" r="r" b="b"/>
              <a:pathLst>
                <a:path w="635000" h="183045">
                  <a:moveTo>
                    <a:pt x="41743" y="0"/>
                  </a:moveTo>
                  <a:lnTo>
                    <a:pt x="593257" y="0"/>
                  </a:lnTo>
                  <a:cubicBezTo>
                    <a:pt x="616311" y="0"/>
                    <a:pt x="635000" y="18689"/>
                    <a:pt x="635000" y="41743"/>
                  </a:cubicBezTo>
                  <a:lnTo>
                    <a:pt x="635000" y="141302"/>
                  </a:lnTo>
                  <a:cubicBezTo>
                    <a:pt x="635000" y="164356"/>
                    <a:pt x="616311" y="183045"/>
                    <a:pt x="593257" y="183045"/>
                  </a:cubicBezTo>
                  <a:lnTo>
                    <a:pt x="41743" y="183045"/>
                  </a:lnTo>
                  <a:cubicBezTo>
                    <a:pt x="30672" y="183045"/>
                    <a:pt x="20055" y="178647"/>
                    <a:pt x="12226" y="170819"/>
                  </a:cubicBezTo>
                  <a:cubicBezTo>
                    <a:pt x="4398" y="162990"/>
                    <a:pt x="0" y="152373"/>
                    <a:pt x="0" y="141302"/>
                  </a:cubicBezTo>
                  <a:lnTo>
                    <a:pt x="0" y="41743"/>
                  </a:lnTo>
                  <a:cubicBezTo>
                    <a:pt x="0" y="18689"/>
                    <a:pt x="18689" y="0"/>
                    <a:pt x="4174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635000" cy="2211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3 SEMANAS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845154" y="216408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Evidencias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301799" y="2795294"/>
            <a:ext cx="1701950" cy="1123287"/>
            <a:chOff x="0" y="0"/>
            <a:chExt cx="635000" cy="4191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BURNDOWN CHART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07139" y="2795294"/>
            <a:ext cx="1850546" cy="1123287"/>
            <a:chOff x="0" y="0"/>
            <a:chExt cx="690442" cy="4191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90442" cy="438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r>
                <a:rPr lang="en-US" sz="1300" b="1" spc="16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RETROSPECTIVE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913503" y="2795294"/>
            <a:ext cx="1701950" cy="1123287"/>
            <a:chOff x="0" y="0"/>
            <a:chExt cx="635000" cy="4191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DAILY MEETING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0301799" y="4159165"/>
            <a:ext cx="1701950" cy="1123287"/>
            <a:chOff x="0" y="0"/>
            <a:chExt cx="635000" cy="4191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IMPEDIMENT LOG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607139" y="4159165"/>
            <a:ext cx="1850546" cy="1123287"/>
            <a:chOff x="0" y="0"/>
            <a:chExt cx="690442" cy="4191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690442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REVIEW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4913503" y="4159165"/>
            <a:ext cx="1701950" cy="1123287"/>
            <a:chOff x="0" y="0"/>
            <a:chExt cx="635000" cy="4191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BACKLOG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332578" y="8358358"/>
            <a:ext cx="2351605" cy="1552059"/>
            <a:chOff x="0" y="0"/>
            <a:chExt cx="635000" cy="4191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LOGS DE SEGURIDAD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945976" y="6500696"/>
            <a:ext cx="2351605" cy="1552059"/>
            <a:chOff x="0" y="0"/>
            <a:chExt cx="635000" cy="4191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REGISTRO DE VISITAS</a:t>
              </a:r>
            </a:p>
          </p:txBody>
        </p:sp>
      </p:grpSp>
      <p:sp>
        <p:nvSpPr>
          <p:cNvPr id="48" name="Freeform 48"/>
          <p:cNvSpPr/>
          <p:nvPr/>
        </p:nvSpPr>
        <p:spPr>
          <a:xfrm>
            <a:off x="8803433" y="624946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9" name="Freeform 49"/>
          <p:cNvSpPr/>
          <p:nvPr/>
        </p:nvSpPr>
        <p:spPr>
          <a:xfrm>
            <a:off x="11925721" y="624946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0" name="Freeform 50"/>
          <p:cNvSpPr/>
          <p:nvPr/>
        </p:nvSpPr>
        <p:spPr>
          <a:xfrm>
            <a:off x="14902984" y="624946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1" name="Freeform 51"/>
          <p:cNvSpPr/>
          <p:nvPr/>
        </p:nvSpPr>
        <p:spPr>
          <a:xfrm>
            <a:off x="10291082" y="8159288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2" name="Freeform 52"/>
          <p:cNvSpPr/>
          <p:nvPr/>
        </p:nvSpPr>
        <p:spPr>
          <a:xfrm>
            <a:off x="11717013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3" name="Freeform 53"/>
          <p:cNvSpPr/>
          <p:nvPr/>
        </p:nvSpPr>
        <p:spPr>
          <a:xfrm>
            <a:off x="11671329" y="3857722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4" name="Freeform 54"/>
          <p:cNvSpPr/>
          <p:nvPr/>
        </p:nvSpPr>
        <p:spPr>
          <a:xfrm>
            <a:off x="16223486" y="39566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5" name="Freeform 55"/>
          <p:cNvSpPr/>
          <p:nvPr/>
        </p:nvSpPr>
        <p:spPr>
          <a:xfrm>
            <a:off x="16223486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6" name="Freeform 56"/>
          <p:cNvSpPr/>
          <p:nvPr/>
        </p:nvSpPr>
        <p:spPr>
          <a:xfrm>
            <a:off x="14121779" y="2692098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7" name="Freeform 57"/>
          <p:cNvSpPr/>
          <p:nvPr/>
        </p:nvSpPr>
        <p:spPr>
          <a:xfrm>
            <a:off x="14121779" y="39566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8" name="TextBox 5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32</a:t>
            </a: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304984" y="2224051"/>
            <a:ext cx="15678032" cy="6114433"/>
          </a:xfrm>
          <a:custGeom>
            <a:avLst/>
            <a:gdLst/>
            <a:ahLst/>
            <a:cxnLst/>
            <a:rect l="l" t="t" r="r" b="b"/>
            <a:pathLst>
              <a:path w="15678032" h="6114433">
                <a:moveTo>
                  <a:pt x="0" y="0"/>
                </a:moveTo>
                <a:lnTo>
                  <a:pt x="15678032" y="0"/>
                </a:lnTo>
                <a:lnTo>
                  <a:pt x="15678032" y="6114432"/>
                </a:lnTo>
                <a:lnTo>
                  <a:pt x="0" y="61144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33</a:t>
            </a: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726966" y="1935481"/>
            <a:ext cx="16834068" cy="7322819"/>
          </a:xfrm>
          <a:custGeom>
            <a:avLst/>
            <a:gdLst/>
            <a:ahLst/>
            <a:cxnLst/>
            <a:rect l="l" t="t" r="r" b="b"/>
            <a:pathLst>
              <a:path w="16834068" h="7322819">
                <a:moveTo>
                  <a:pt x="0" y="0"/>
                </a:moveTo>
                <a:lnTo>
                  <a:pt x="16834068" y="0"/>
                </a:lnTo>
                <a:lnTo>
                  <a:pt x="16834068" y="7322819"/>
                </a:lnTo>
                <a:lnTo>
                  <a:pt x="0" y="73228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Burndown Chart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34</a:t>
            </a: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581140" y="2317333"/>
            <a:ext cx="17125720" cy="5394602"/>
          </a:xfrm>
          <a:custGeom>
            <a:avLst/>
            <a:gdLst/>
            <a:ahLst/>
            <a:cxnLst/>
            <a:rect l="l" t="t" r="r" b="b"/>
            <a:pathLst>
              <a:path w="17125720" h="5394602">
                <a:moveTo>
                  <a:pt x="0" y="0"/>
                </a:moveTo>
                <a:lnTo>
                  <a:pt x="17125720" y="0"/>
                </a:lnTo>
                <a:lnTo>
                  <a:pt x="17125720" y="5394602"/>
                </a:lnTo>
                <a:lnTo>
                  <a:pt x="0" y="53946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Impediment 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35</a:t>
            </a:r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28700" y="2087881"/>
            <a:ext cx="16230600" cy="1584980"/>
            <a:chOff x="0" y="0"/>
            <a:chExt cx="4274726" cy="4174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417443"/>
            </a:xfrm>
            <a:custGeom>
              <a:avLst/>
              <a:gdLst/>
              <a:ahLst/>
              <a:cxnLst/>
              <a:rect l="l" t="t" r="r" b="b"/>
              <a:pathLst>
                <a:path w="4274726" h="417443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393117"/>
                  </a:lnTo>
                  <a:cubicBezTo>
                    <a:pt x="4274726" y="406552"/>
                    <a:pt x="4263834" y="417443"/>
                    <a:pt x="4250399" y="417443"/>
                  </a:cubicBezTo>
                  <a:lnTo>
                    <a:pt x="24327" y="417443"/>
                  </a:lnTo>
                  <a:cubicBezTo>
                    <a:pt x="17875" y="417443"/>
                    <a:pt x="11687" y="414880"/>
                    <a:pt x="7125" y="410318"/>
                  </a:cubicBezTo>
                  <a:cubicBezTo>
                    <a:pt x="2563" y="405756"/>
                    <a:pt x="0" y="399568"/>
                    <a:pt x="0" y="393117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274726" cy="4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5796112"/>
            <a:ext cx="4741747" cy="2225164"/>
            <a:chOff x="0" y="0"/>
            <a:chExt cx="1248855" cy="58605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48855" cy="586051"/>
            </a:xfrm>
            <a:custGeom>
              <a:avLst/>
              <a:gdLst/>
              <a:ahLst/>
              <a:cxnLst/>
              <a:rect l="l" t="t" r="r" b="b"/>
              <a:pathLst>
                <a:path w="1248855" h="586051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502783"/>
                  </a:lnTo>
                  <a:cubicBezTo>
                    <a:pt x="1248855" y="548771"/>
                    <a:pt x="1211575" y="586051"/>
                    <a:pt x="1165587" y="586051"/>
                  </a:cubicBezTo>
                  <a:lnTo>
                    <a:pt x="83268" y="586051"/>
                  </a:lnTo>
                  <a:cubicBezTo>
                    <a:pt x="61184" y="586051"/>
                    <a:pt x="40005" y="577278"/>
                    <a:pt x="24389" y="561663"/>
                  </a:cubicBezTo>
                  <a:cubicBezTo>
                    <a:pt x="8773" y="546047"/>
                    <a:pt x="0" y="524867"/>
                    <a:pt x="0" y="502783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248855" cy="6146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89622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Review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6216" y="2319666"/>
            <a:ext cx="15859718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- MEJORAR LA INTERACCIÓN CON LOS DASHBOARD DE POWER BI Y CREAR HERRAMIENTAS AYUDAR A LA ORGANIZACIÓN Y PLANEACIÓN DE ADMISIÓN.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98753" y="6227507"/>
            <a:ext cx="3601641" cy="1369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 MÉTRICAS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PLANIFICADAS: 5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COMPLETADAS: 5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780657" y="5535445"/>
            <a:ext cx="11403987" cy="1324927"/>
            <a:chOff x="0" y="0"/>
            <a:chExt cx="3003519" cy="348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3519" cy="348952"/>
            </a:xfrm>
            <a:custGeom>
              <a:avLst/>
              <a:gdLst/>
              <a:ahLst/>
              <a:cxnLst/>
              <a:rect l="l" t="t" r="r" b="b"/>
              <a:pathLst>
                <a:path w="3003519" h="348952">
                  <a:moveTo>
                    <a:pt x="34623" y="0"/>
                  </a:moveTo>
                  <a:lnTo>
                    <a:pt x="2968896" y="0"/>
                  </a:lnTo>
                  <a:cubicBezTo>
                    <a:pt x="2988018" y="0"/>
                    <a:pt x="3003519" y="15501"/>
                    <a:pt x="3003519" y="34623"/>
                  </a:cubicBezTo>
                  <a:lnTo>
                    <a:pt x="3003519" y="314329"/>
                  </a:lnTo>
                  <a:cubicBezTo>
                    <a:pt x="3003519" y="323512"/>
                    <a:pt x="2999871" y="332318"/>
                    <a:pt x="2993378" y="338811"/>
                  </a:cubicBezTo>
                  <a:cubicBezTo>
                    <a:pt x="2986885" y="345304"/>
                    <a:pt x="2978079" y="348952"/>
                    <a:pt x="2968896" y="348952"/>
                  </a:cubicBezTo>
                  <a:lnTo>
                    <a:pt x="34623" y="348952"/>
                  </a:lnTo>
                  <a:cubicBezTo>
                    <a:pt x="25440" y="348952"/>
                    <a:pt x="16634" y="345304"/>
                    <a:pt x="10141" y="338811"/>
                  </a:cubicBezTo>
                  <a:cubicBezTo>
                    <a:pt x="3648" y="332318"/>
                    <a:pt x="0" y="323512"/>
                    <a:pt x="0" y="314329"/>
                  </a:cubicBezTo>
                  <a:lnTo>
                    <a:pt x="0" y="34623"/>
                  </a:lnTo>
                  <a:cubicBezTo>
                    <a:pt x="0" y="25440"/>
                    <a:pt x="3648" y="16634"/>
                    <a:pt x="10141" y="10141"/>
                  </a:cubicBezTo>
                  <a:cubicBezTo>
                    <a:pt x="16634" y="3648"/>
                    <a:pt x="25440" y="0"/>
                    <a:pt x="3462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3003519" cy="3775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162975" y="5767537"/>
            <a:ext cx="10878047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endParaRPr/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POSITIVO: EL HISTORIAL DE VISITAS A COLEGIOS ES SIMPLE Y ÚTIL. ME GUSTO.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132204" y="4291450"/>
            <a:ext cx="4741747" cy="834420"/>
            <a:chOff x="0" y="0"/>
            <a:chExt cx="1248855" cy="2197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48855" cy="219765"/>
            </a:xfrm>
            <a:custGeom>
              <a:avLst/>
              <a:gdLst/>
              <a:ahLst/>
              <a:cxnLst/>
              <a:rect l="l" t="t" r="r" b="b"/>
              <a:pathLst>
                <a:path w="1248855" h="219765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136497"/>
                  </a:lnTo>
                  <a:cubicBezTo>
                    <a:pt x="1248855" y="158581"/>
                    <a:pt x="1240082" y="179760"/>
                    <a:pt x="1224466" y="195376"/>
                  </a:cubicBezTo>
                  <a:cubicBezTo>
                    <a:pt x="1208851" y="210992"/>
                    <a:pt x="1187671" y="219765"/>
                    <a:pt x="1165587" y="219765"/>
                  </a:cubicBezTo>
                  <a:lnTo>
                    <a:pt x="83268" y="219765"/>
                  </a:lnTo>
                  <a:cubicBezTo>
                    <a:pt x="37281" y="219765"/>
                    <a:pt x="0" y="182484"/>
                    <a:pt x="0" y="136497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48855" cy="2483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455899" y="4579922"/>
            <a:ext cx="4152424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FEEDBACK DEL PRODUCT OWNER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747063" y="7269947"/>
            <a:ext cx="11540937" cy="919098"/>
            <a:chOff x="0" y="0"/>
            <a:chExt cx="3039588" cy="24206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39588" cy="242067"/>
            </a:xfrm>
            <a:custGeom>
              <a:avLst/>
              <a:gdLst/>
              <a:ahLst/>
              <a:cxnLst/>
              <a:rect l="l" t="t" r="r" b="b"/>
              <a:pathLst>
                <a:path w="3039588" h="242067">
                  <a:moveTo>
                    <a:pt x="34212" y="0"/>
                  </a:moveTo>
                  <a:lnTo>
                    <a:pt x="3005376" y="0"/>
                  </a:lnTo>
                  <a:cubicBezTo>
                    <a:pt x="3024271" y="0"/>
                    <a:pt x="3039588" y="15317"/>
                    <a:pt x="3039588" y="34212"/>
                  </a:cubicBezTo>
                  <a:lnTo>
                    <a:pt x="3039588" y="207855"/>
                  </a:lnTo>
                  <a:cubicBezTo>
                    <a:pt x="3039588" y="216929"/>
                    <a:pt x="3035984" y="225630"/>
                    <a:pt x="3029568" y="232046"/>
                  </a:cubicBezTo>
                  <a:cubicBezTo>
                    <a:pt x="3023152" y="238462"/>
                    <a:pt x="3014450" y="242067"/>
                    <a:pt x="3005376" y="242067"/>
                  </a:cubicBezTo>
                  <a:lnTo>
                    <a:pt x="34212" y="242067"/>
                  </a:lnTo>
                  <a:cubicBezTo>
                    <a:pt x="15317" y="242067"/>
                    <a:pt x="0" y="226750"/>
                    <a:pt x="0" y="207855"/>
                  </a:cubicBezTo>
                  <a:lnTo>
                    <a:pt x="0" y="34212"/>
                  </a:lnTo>
                  <a:cubicBezTo>
                    <a:pt x="0" y="15317"/>
                    <a:pt x="15317" y="0"/>
                    <a:pt x="34212" y="0"/>
                  </a:cubicBezTo>
                  <a:close/>
                </a:path>
              </a:pathLst>
            </a:custGeom>
            <a:solidFill>
              <a:srgbClr val="E0666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3039588" cy="270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780657" y="7498547"/>
            <a:ext cx="11444841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MEJORAR: LOS FILTROS DE LOS REGISTROS SE PODRÍAN IMPLEMENTAR AL MOMENTO DE SELECCIONARLOS Y ME GUSTARÍA EDITAR LOS DATOS DE LAS VISITAS.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36</a:t>
            </a:r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21271" y="3481663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Iteración Sprint 4</a:t>
            </a:r>
          </a:p>
        </p:txBody>
      </p:sp>
      <p:sp>
        <p:nvSpPr>
          <p:cNvPr id="3" name="Freeform 3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37</a:t>
            </a:r>
          </a:p>
        </p:txBody>
      </p:sp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18666" y="111442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Resumen Sprint 4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502355" y="6581879"/>
            <a:ext cx="2351605" cy="1552059"/>
            <a:chOff x="0" y="0"/>
            <a:chExt cx="635000" cy="4191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EXPORTACIÓN DE REPORTES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019317" y="6581879"/>
            <a:ext cx="2351605" cy="1552059"/>
            <a:chOff x="0" y="0"/>
            <a:chExt cx="635000" cy="419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MODIFICACIÓN A VISITAS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11582" y="229849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Duración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288874" y="5596777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Tareas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055757" y="3173937"/>
            <a:ext cx="3622400" cy="1044191"/>
            <a:chOff x="0" y="0"/>
            <a:chExt cx="635000" cy="18304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000" cy="183045"/>
            </a:xfrm>
            <a:custGeom>
              <a:avLst/>
              <a:gdLst/>
              <a:ahLst/>
              <a:cxnLst/>
              <a:rect l="l" t="t" r="r" b="b"/>
              <a:pathLst>
                <a:path w="635000" h="183045">
                  <a:moveTo>
                    <a:pt x="41743" y="0"/>
                  </a:moveTo>
                  <a:lnTo>
                    <a:pt x="593257" y="0"/>
                  </a:lnTo>
                  <a:cubicBezTo>
                    <a:pt x="616311" y="0"/>
                    <a:pt x="635000" y="18689"/>
                    <a:pt x="635000" y="41743"/>
                  </a:cubicBezTo>
                  <a:lnTo>
                    <a:pt x="635000" y="141302"/>
                  </a:lnTo>
                  <a:cubicBezTo>
                    <a:pt x="635000" y="164356"/>
                    <a:pt x="616311" y="183045"/>
                    <a:pt x="593257" y="183045"/>
                  </a:cubicBezTo>
                  <a:lnTo>
                    <a:pt x="41743" y="183045"/>
                  </a:lnTo>
                  <a:cubicBezTo>
                    <a:pt x="30672" y="183045"/>
                    <a:pt x="20055" y="178647"/>
                    <a:pt x="12226" y="170819"/>
                  </a:cubicBezTo>
                  <a:cubicBezTo>
                    <a:pt x="4398" y="162990"/>
                    <a:pt x="0" y="152373"/>
                    <a:pt x="0" y="141302"/>
                  </a:cubicBezTo>
                  <a:lnTo>
                    <a:pt x="0" y="41743"/>
                  </a:lnTo>
                  <a:cubicBezTo>
                    <a:pt x="0" y="18689"/>
                    <a:pt x="18689" y="0"/>
                    <a:pt x="4174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35000" cy="2211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1800" b="1" spc="230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2 SEMANAS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845154" y="2164081"/>
            <a:ext cx="6710751" cy="58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3"/>
              </a:lnSpc>
            </a:pPr>
            <a:r>
              <a:rPr lang="en-US" sz="439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Evidencias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301799" y="2795294"/>
            <a:ext cx="1701950" cy="1123287"/>
            <a:chOff x="0" y="0"/>
            <a:chExt cx="635000" cy="4191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BURNDOWN CHART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607139" y="2795294"/>
            <a:ext cx="1850546" cy="1123287"/>
            <a:chOff x="0" y="0"/>
            <a:chExt cx="690442" cy="4191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690442" cy="438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r>
                <a:rPr lang="en-US" sz="1300" b="1" spc="16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RETROSPECTIVE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913503" y="2795294"/>
            <a:ext cx="1701950" cy="1123287"/>
            <a:chOff x="0" y="0"/>
            <a:chExt cx="635000" cy="4191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DAILY MEETING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149079" y="4159165"/>
            <a:ext cx="1850546" cy="1123287"/>
            <a:chOff x="0" y="0"/>
            <a:chExt cx="690442" cy="4191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90442" cy="419100"/>
            </a:xfrm>
            <a:custGeom>
              <a:avLst/>
              <a:gdLst/>
              <a:ahLst/>
              <a:cxnLst/>
              <a:rect l="l" t="t" r="r" b="b"/>
              <a:pathLst>
                <a:path w="690442" h="419100">
                  <a:moveTo>
                    <a:pt x="81711" y="0"/>
                  </a:moveTo>
                  <a:lnTo>
                    <a:pt x="608731" y="0"/>
                  </a:lnTo>
                  <a:cubicBezTo>
                    <a:pt x="630402" y="0"/>
                    <a:pt x="651185" y="8609"/>
                    <a:pt x="666509" y="23932"/>
                  </a:cubicBezTo>
                  <a:cubicBezTo>
                    <a:pt x="681833" y="39256"/>
                    <a:pt x="690442" y="60040"/>
                    <a:pt x="690442" y="81711"/>
                  </a:cubicBezTo>
                  <a:lnTo>
                    <a:pt x="690442" y="337389"/>
                  </a:lnTo>
                  <a:cubicBezTo>
                    <a:pt x="690442" y="382517"/>
                    <a:pt x="653859" y="419100"/>
                    <a:pt x="608731" y="419100"/>
                  </a:cubicBezTo>
                  <a:lnTo>
                    <a:pt x="81711" y="419100"/>
                  </a:lnTo>
                  <a:cubicBezTo>
                    <a:pt x="36583" y="419100"/>
                    <a:pt x="0" y="382517"/>
                    <a:pt x="0" y="337389"/>
                  </a:cubicBezTo>
                  <a:lnTo>
                    <a:pt x="0" y="81711"/>
                  </a:lnTo>
                  <a:cubicBezTo>
                    <a:pt x="0" y="36583"/>
                    <a:pt x="36583" y="0"/>
                    <a:pt x="81711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690442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REVIEW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3904726" y="4159165"/>
            <a:ext cx="1701950" cy="1123287"/>
            <a:chOff x="0" y="0"/>
            <a:chExt cx="635000" cy="4191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88845" y="0"/>
                  </a:moveTo>
                  <a:lnTo>
                    <a:pt x="546155" y="0"/>
                  </a:lnTo>
                  <a:cubicBezTo>
                    <a:pt x="569718" y="0"/>
                    <a:pt x="592316" y="9360"/>
                    <a:pt x="608978" y="26022"/>
                  </a:cubicBezTo>
                  <a:cubicBezTo>
                    <a:pt x="625640" y="42684"/>
                    <a:pt x="635000" y="65282"/>
                    <a:pt x="635000" y="88845"/>
                  </a:cubicBezTo>
                  <a:lnTo>
                    <a:pt x="635000" y="330255"/>
                  </a:lnTo>
                  <a:cubicBezTo>
                    <a:pt x="635000" y="353818"/>
                    <a:pt x="625640" y="376416"/>
                    <a:pt x="608978" y="393078"/>
                  </a:cubicBezTo>
                  <a:cubicBezTo>
                    <a:pt x="592316" y="409740"/>
                    <a:pt x="569718" y="419100"/>
                    <a:pt x="546155" y="419100"/>
                  </a:cubicBezTo>
                  <a:lnTo>
                    <a:pt x="88845" y="419100"/>
                  </a:lnTo>
                  <a:cubicBezTo>
                    <a:pt x="65282" y="419100"/>
                    <a:pt x="42684" y="409740"/>
                    <a:pt x="26022" y="393078"/>
                  </a:cubicBezTo>
                  <a:cubicBezTo>
                    <a:pt x="9360" y="376416"/>
                    <a:pt x="0" y="353818"/>
                    <a:pt x="0" y="330255"/>
                  </a:cubicBezTo>
                  <a:lnTo>
                    <a:pt x="0" y="88845"/>
                  </a:lnTo>
                  <a:cubicBezTo>
                    <a:pt x="0" y="65282"/>
                    <a:pt x="9360" y="42684"/>
                    <a:pt x="26022" y="26022"/>
                  </a:cubicBezTo>
                  <a:cubicBezTo>
                    <a:pt x="42684" y="9360"/>
                    <a:pt x="65282" y="0"/>
                    <a:pt x="88845" y="0"/>
                  </a:cubicBezTo>
                  <a:close/>
                </a:path>
              </a:pathLst>
            </a:custGeom>
            <a:solidFill>
              <a:srgbClr val="FFDD7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b="1" spc="1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SPRINT BACKLOG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431336" y="6581879"/>
            <a:ext cx="2351605" cy="1552059"/>
            <a:chOff x="0" y="0"/>
            <a:chExt cx="635000" cy="4191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35000" cy="419100"/>
            </a:xfrm>
            <a:custGeom>
              <a:avLst/>
              <a:gdLst/>
              <a:ahLst/>
              <a:cxnLst/>
              <a:rect l="l" t="t" r="r" b="b"/>
              <a:pathLst>
                <a:path w="635000" h="419100">
                  <a:moveTo>
                    <a:pt x="64300" y="0"/>
                  </a:moveTo>
                  <a:lnTo>
                    <a:pt x="570700" y="0"/>
                  </a:lnTo>
                  <a:cubicBezTo>
                    <a:pt x="606212" y="0"/>
                    <a:pt x="635000" y="28788"/>
                    <a:pt x="635000" y="64300"/>
                  </a:cubicBezTo>
                  <a:lnTo>
                    <a:pt x="635000" y="354800"/>
                  </a:lnTo>
                  <a:cubicBezTo>
                    <a:pt x="635000" y="390312"/>
                    <a:pt x="606212" y="419100"/>
                    <a:pt x="570700" y="419100"/>
                  </a:cubicBezTo>
                  <a:lnTo>
                    <a:pt x="64300" y="419100"/>
                  </a:lnTo>
                  <a:cubicBezTo>
                    <a:pt x="28788" y="419100"/>
                    <a:pt x="0" y="390312"/>
                    <a:pt x="0" y="354800"/>
                  </a:cubicBezTo>
                  <a:lnTo>
                    <a:pt x="0" y="64300"/>
                  </a:lnTo>
                  <a:cubicBezTo>
                    <a:pt x="0" y="28788"/>
                    <a:pt x="28788" y="0"/>
                    <a:pt x="64300" y="0"/>
                  </a:cubicBezTo>
                  <a:close/>
                </a:path>
              </a:pathLst>
            </a:custGeom>
            <a:solidFill>
              <a:srgbClr val="FFB71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635000" cy="447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r>
                <a:rPr lang="en-US" sz="1600" b="1" spc="204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DOCUMENTACIÓN DEL PROYECTO</a:t>
              </a:r>
            </a:p>
          </p:txBody>
        </p:sp>
      </p:grpSp>
      <p:sp>
        <p:nvSpPr>
          <p:cNvPr id="38" name="Freeform 38"/>
          <p:cNvSpPr/>
          <p:nvPr/>
        </p:nvSpPr>
        <p:spPr>
          <a:xfrm>
            <a:off x="10038502" y="6356863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9" name="Freeform 39"/>
          <p:cNvSpPr/>
          <p:nvPr/>
        </p:nvSpPr>
        <p:spPr>
          <a:xfrm>
            <a:off x="13450522" y="6356863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0" name="Freeform 40"/>
          <p:cNvSpPr/>
          <p:nvPr/>
        </p:nvSpPr>
        <p:spPr>
          <a:xfrm>
            <a:off x="6521540" y="624946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1" name="Freeform 41"/>
          <p:cNvSpPr/>
          <p:nvPr/>
        </p:nvSpPr>
        <p:spPr>
          <a:xfrm>
            <a:off x="11717013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2" name="Freeform 42"/>
          <p:cNvSpPr/>
          <p:nvPr/>
        </p:nvSpPr>
        <p:spPr>
          <a:xfrm>
            <a:off x="15274256" y="3978755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3" name="Freeform 43"/>
          <p:cNvSpPr/>
          <p:nvPr/>
        </p:nvSpPr>
        <p:spPr>
          <a:xfrm>
            <a:off x="16223486" y="2554709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8"/>
                </a:lnTo>
                <a:lnTo>
                  <a:pt x="0" y="6648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4" name="Freeform 44"/>
          <p:cNvSpPr/>
          <p:nvPr/>
        </p:nvSpPr>
        <p:spPr>
          <a:xfrm>
            <a:off x="14121779" y="2692098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8" y="0"/>
                </a:lnTo>
                <a:lnTo>
                  <a:pt x="664838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5" name="Freeform 45"/>
          <p:cNvSpPr/>
          <p:nvPr/>
        </p:nvSpPr>
        <p:spPr>
          <a:xfrm>
            <a:off x="12607139" y="3956680"/>
            <a:ext cx="664839" cy="664839"/>
          </a:xfrm>
          <a:custGeom>
            <a:avLst/>
            <a:gdLst/>
            <a:ahLst/>
            <a:cxnLst/>
            <a:rect l="l" t="t" r="r" b="b"/>
            <a:pathLst>
              <a:path w="664839" h="664839">
                <a:moveTo>
                  <a:pt x="0" y="0"/>
                </a:moveTo>
                <a:lnTo>
                  <a:pt x="664839" y="0"/>
                </a:lnTo>
                <a:lnTo>
                  <a:pt x="664839" y="664839"/>
                </a:lnTo>
                <a:lnTo>
                  <a:pt x="0" y="664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6" name="TextBox 46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38</a:t>
            </a: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028700" y="3105634"/>
            <a:ext cx="16230600" cy="4301109"/>
          </a:xfrm>
          <a:custGeom>
            <a:avLst/>
            <a:gdLst/>
            <a:ahLst/>
            <a:cxnLst/>
            <a:rect l="l" t="t" r="r" b="b"/>
            <a:pathLst>
              <a:path w="16230600" h="4301109">
                <a:moveTo>
                  <a:pt x="0" y="0"/>
                </a:moveTo>
                <a:lnTo>
                  <a:pt x="16230600" y="0"/>
                </a:lnTo>
                <a:lnTo>
                  <a:pt x="16230600" y="4301109"/>
                </a:lnTo>
                <a:lnTo>
                  <a:pt x="0" y="43011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Backlog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39</a:t>
            </a:r>
          </a:p>
        </p:txBody>
      </p:sp>
    </p:spTree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028700" y="2232244"/>
            <a:ext cx="16678160" cy="7004827"/>
          </a:xfrm>
          <a:custGeom>
            <a:avLst/>
            <a:gdLst/>
            <a:ahLst/>
            <a:cxnLst/>
            <a:rect l="l" t="t" r="r" b="b"/>
            <a:pathLst>
              <a:path w="16678160" h="7004827">
                <a:moveTo>
                  <a:pt x="0" y="0"/>
                </a:moveTo>
                <a:lnTo>
                  <a:pt x="16678160" y="0"/>
                </a:lnTo>
                <a:lnTo>
                  <a:pt x="16678160" y="7004827"/>
                </a:lnTo>
                <a:lnTo>
                  <a:pt x="0" y="70048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Burndown Chart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40</a:t>
            </a:r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28700" y="2087881"/>
            <a:ext cx="16230600" cy="1584980"/>
            <a:chOff x="0" y="0"/>
            <a:chExt cx="4274726" cy="4174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417443"/>
            </a:xfrm>
            <a:custGeom>
              <a:avLst/>
              <a:gdLst/>
              <a:ahLst/>
              <a:cxnLst/>
              <a:rect l="l" t="t" r="r" b="b"/>
              <a:pathLst>
                <a:path w="4274726" h="417443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393117"/>
                  </a:lnTo>
                  <a:cubicBezTo>
                    <a:pt x="4274726" y="406552"/>
                    <a:pt x="4263834" y="417443"/>
                    <a:pt x="4250399" y="417443"/>
                  </a:cubicBezTo>
                  <a:lnTo>
                    <a:pt x="24327" y="417443"/>
                  </a:lnTo>
                  <a:cubicBezTo>
                    <a:pt x="17875" y="417443"/>
                    <a:pt x="11687" y="414880"/>
                    <a:pt x="7125" y="410318"/>
                  </a:cubicBezTo>
                  <a:cubicBezTo>
                    <a:pt x="2563" y="405756"/>
                    <a:pt x="0" y="399568"/>
                    <a:pt x="0" y="393117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4274726" cy="4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5796112"/>
            <a:ext cx="4741747" cy="2225164"/>
            <a:chOff x="0" y="0"/>
            <a:chExt cx="1248855" cy="58605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48855" cy="586051"/>
            </a:xfrm>
            <a:custGeom>
              <a:avLst/>
              <a:gdLst/>
              <a:ahLst/>
              <a:cxnLst/>
              <a:rect l="l" t="t" r="r" b="b"/>
              <a:pathLst>
                <a:path w="1248855" h="586051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502783"/>
                  </a:lnTo>
                  <a:cubicBezTo>
                    <a:pt x="1248855" y="548771"/>
                    <a:pt x="1211575" y="586051"/>
                    <a:pt x="1165587" y="586051"/>
                  </a:cubicBezTo>
                  <a:lnTo>
                    <a:pt x="83268" y="586051"/>
                  </a:lnTo>
                  <a:cubicBezTo>
                    <a:pt x="61184" y="586051"/>
                    <a:pt x="40005" y="577278"/>
                    <a:pt x="24389" y="561663"/>
                  </a:cubicBezTo>
                  <a:cubicBezTo>
                    <a:pt x="8773" y="546047"/>
                    <a:pt x="0" y="524867"/>
                    <a:pt x="0" y="502783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248855" cy="6146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89622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Sprint Review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6216" y="2319666"/>
            <a:ext cx="15859718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- COMPLETAR LAS HISTORIAS DE USUARIOS FALTANTES, REVISAR Y/O ACTUALIZAR DOCUMENTOS DEL SPRINT ANTERIOR Y ESTA ITERACIÓN DE SPRINT.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98158" y="6227507"/>
            <a:ext cx="3602831" cy="1369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 MÉTRICAS DEL SPRINT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PLANIFICADAS: 3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HISTORIAS COMPLETADAS: 3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780657" y="5535445"/>
            <a:ext cx="11403987" cy="1324927"/>
            <a:chOff x="0" y="0"/>
            <a:chExt cx="3003519" cy="348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3519" cy="348952"/>
            </a:xfrm>
            <a:custGeom>
              <a:avLst/>
              <a:gdLst/>
              <a:ahLst/>
              <a:cxnLst/>
              <a:rect l="l" t="t" r="r" b="b"/>
              <a:pathLst>
                <a:path w="3003519" h="348952">
                  <a:moveTo>
                    <a:pt x="34623" y="0"/>
                  </a:moveTo>
                  <a:lnTo>
                    <a:pt x="2968896" y="0"/>
                  </a:lnTo>
                  <a:cubicBezTo>
                    <a:pt x="2988018" y="0"/>
                    <a:pt x="3003519" y="15501"/>
                    <a:pt x="3003519" y="34623"/>
                  </a:cubicBezTo>
                  <a:lnTo>
                    <a:pt x="3003519" y="314329"/>
                  </a:lnTo>
                  <a:cubicBezTo>
                    <a:pt x="3003519" y="323512"/>
                    <a:pt x="2999871" y="332318"/>
                    <a:pt x="2993378" y="338811"/>
                  </a:cubicBezTo>
                  <a:cubicBezTo>
                    <a:pt x="2986885" y="345304"/>
                    <a:pt x="2978079" y="348952"/>
                    <a:pt x="2968896" y="348952"/>
                  </a:cubicBezTo>
                  <a:lnTo>
                    <a:pt x="34623" y="348952"/>
                  </a:lnTo>
                  <a:cubicBezTo>
                    <a:pt x="25440" y="348952"/>
                    <a:pt x="16634" y="345304"/>
                    <a:pt x="10141" y="338811"/>
                  </a:cubicBezTo>
                  <a:cubicBezTo>
                    <a:pt x="3648" y="332318"/>
                    <a:pt x="0" y="323512"/>
                    <a:pt x="0" y="314329"/>
                  </a:cubicBezTo>
                  <a:lnTo>
                    <a:pt x="0" y="34623"/>
                  </a:lnTo>
                  <a:cubicBezTo>
                    <a:pt x="0" y="25440"/>
                    <a:pt x="3648" y="16634"/>
                    <a:pt x="10141" y="10141"/>
                  </a:cubicBezTo>
                  <a:cubicBezTo>
                    <a:pt x="16634" y="3648"/>
                    <a:pt x="25440" y="0"/>
                    <a:pt x="34623" y="0"/>
                  </a:cubicBezTo>
                  <a:close/>
                </a:path>
              </a:pathLst>
            </a:custGeom>
            <a:solidFill>
              <a:srgbClr val="7ED9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3003519" cy="3775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162975" y="5767537"/>
            <a:ext cx="10878047" cy="10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endParaRPr/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POSITIVO: SE VE UN TRABAJO INTEGRO Y COMPLETO.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algn="ctr">
              <a:lnSpc>
                <a:spcPts val="2240"/>
              </a:lnSpc>
              <a:spcBef>
                <a:spcPct val="0"/>
              </a:spcBef>
            </a:pPr>
            <a:endParaRPr lang="en-US" sz="1600" b="1" spc="204">
              <a:solidFill>
                <a:srgbClr val="FFFFFF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132204" y="4291450"/>
            <a:ext cx="4741747" cy="834420"/>
            <a:chOff x="0" y="0"/>
            <a:chExt cx="1248855" cy="2197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48855" cy="219765"/>
            </a:xfrm>
            <a:custGeom>
              <a:avLst/>
              <a:gdLst/>
              <a:ahLst/>
              <a:cxnLst/>
              <a:rect l="l" t="t" r="r" b="b"/>
              <a:pathLst>
                <a:path w="1248855" h="219765">
                  <a:moveTo>
                    <a:pt x="83268" y="0"/>
                  </a:moveTo>
                  <a:lnTo>
                    <a:pt x="1165587" y="0"/>
                  </a:lnTo>
                  <a:cubicBezTo>
                    <a:pt x="1211575" y="0"/>
                    <a:pt x="1248855" y="37281"/>
                    <a:pt x="1248855" y="83268"/>
                  </a:cubicBezTo>
                  <a:lnTo>
                    <a:pt x="1248855" y="136497"/>
                  </a:lnTo>
                  <a:cubicBezTo>
                    <a:pt x="1248855" y="158581"/>
                    <a:pt x="1240082" y="179760"/>
                    <a:pt x="1224466" y="195376"/>
                  </a:cubicBezTo>
                  <a:cubicBezTo>
                    <a:pt x="1208851" y="210992"/>
                    <a:pt x="1187671" y="219765"/>
                    <a:pt x="1165587" y="219765"/>
                  </a:cubicBezTo>
                  <a:lnTo>
                    <a:pt x="83268" y="219765"/>
                  </a:lnTo>
                  <a:cubicBezTo>
                    <a:pt x="37281" y="219765"/>
                    <a:pt x="0" y="182484"/>
                    <a:pt x="0" y="136497"/>
                  </a:cubicBezTo>
                  <a:lnTo>
                    <a:pt x="0" y="83268"/>
                  </a:lnTo>
                  <a:cubicBezTo>
                    <a:pt x="0" y="37281"/>
                    <a:pt x="37281" y="0"/>
                    <a:pt x="83268" y="0"/>
                  </a:cubicBezTo>
                  <a:close/>
                </a:path>
              </a:pathLst>
            </a:custGeom>
            <a:solidFill>
              <a:srgbClr val="D488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48855" cy="2483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455899" y="4579922"/>
            <a:ext cx="4152424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FEEDBACK DEL PRODUCT OWNER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747063" y="7269947"/>
            <a:ext cx="11540937" cy="919098"/>
            <a:chOff x="0" y="0"/>
            <a:chExt cx="3039588" cy="242067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39588" cy="242067"/>
            </a:xfrm>
            <a:custGeom>
              <a:avLst/>
              <a:gdLst/>
              <a:ahLst/>
              <a:cxnLst/>
              <a:rect l="l" t="t" r="r" b="b"/>
              <a:pathLst>
                <a:path w="3039588" h="242067">
                  <a:moveTo>
                    <a:pt x="34212" y="0"/>
                  </a:moveTo>
                  <a:lnTo>
                    <a:pt x="3005376" y="0"/>
                  </a:lnTo>
                  <a:cubicBezTo>
                    <a:pt x="3024271" y="0"/>
                    <a:pt x="3039588" y="15317"/>
                    <a:pt x="3039588" y="34212"/>
                  </a:cubicBezTo>
                  <a:lnTo>
                    <a:pt x="3039588" y="207855"/>
                  </a:lnTo>
                  <a:cubicBezTo>
                    <a:pt x="3039588" y="216929"/>
                    <a:pt x="3035984" y="225630"/>
                    <a:pt x="3029568" y="232046"/>
                  </a:cubicBezTo>
                  <a:cubicBezTo>
                    <a:pt x="3023152" y="238462"/>
                    <a:pt x="3014450" y="242067"/>
                    <a:pt x="3005376" y="242067"/>
                  </a:cubicBezTo>
                  <a:lnTo>
                    <a:pt x="34212" y="242067"/>
                  </a:lnTo>
                  <a:cubicBezTo>
                    <a:pt x="15317" y="242067"/>
                    <a:pt x="0" y="226750"/>
                    <a:pt x="0" y="207855"/>
                  </a:cubicBezTo>
                  <a:lnTo>
                    <a:pt x="0" y="34212"/>
                  </a:lnTo>
                  <a:cubicBezTo>
                    <a:pt x="0" y="15317"/>
                    <a:pt x="15317" y="0"/>
                    <a:pt x="34212" y="0"/>
                  </a:cubicBezTo>
                  <a:close/>
                </a:path>
              </a:pathLst>
            </a:custGeom>
            <a:solidFill>
              <a:srgbClr val="E0666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3039588" cy="270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161237" y="7498547"/>
            <a:ext cx="4683681" cy="264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b="1" spc="20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MEJORAR: NADA POR EL MOMENTO.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41</a:t>
            </a:r>
          </a:p>
        </p:txBody>
      </p:sp>
    </p:spTree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9900B1F-DA39-AEEC-3604-04A7FF65C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977" y="1627629"/>
            <a:ext cx="16120528" cy="7901329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13626" y="1024988"/>
            <a:ext cx="7366321" cy="730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83"/>
              </a:lnSpc>
            </a:pPr>
            <a:r>
              <a:rPr lang="en-US" sz="5528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Cronograma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42</a:t>
            </a:r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1139016" y="2633234"/>
            <a:ext cx="5908708" cy="5836869"/>
          </a:xfrm>
          <a:custGeom>
            <a:avLst/>
            <a:gdLst/>
            <a:ahLst/>
            <a:cxnLst/>
            <a:rect l="l" t="t" r="r" b="b"/>
            <a:pathLst>
              <a:path w="5908708" h="5836869">
                <a:moveTo>
                  <a:pt x="0" y="0"/>
                </a:moveTo>
                <a:lnTo>
                  <a:pt x="5908708" y="0"/>
                </a:lnTo>
                <a:lnTo>
                  <a:pt x="5908708" y="5836869"/>
                </a:lnTo>
                <a:lnTo>
                  <a:pt x="0" y="5836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78214" y="2633234"/>
            <a:ext cx="10219212" cy="4321150"/>
          </a:xfrm>
          <a:custGeom>
            <a:avLst/>
            <a:gdLst/>
            <a:ahLst/>
            <a:cxnLst/>
            <a:rect l="l" t="t" r="r" b="b"/>
            <a:pathLst>
              <a:path w="10219212" h="4321150">
                <a:moveTo>
                  <a:pt x="0" y="0"/>
                </a:moveTo>
                <a:lnTo>
                  <a:pt x="10219212" y="0"/>
                </a:lnTo>
                <a:lnTo>
                  <a:pt x="10219212" y="4321150"/>
                </a:lnTo>
                <a:lnTo>
                  <a:pt x="0" y="432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Presupuesto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43</a:t>
            </a:r>
          </a:p>
        </p:txBody>
      </p:sp>
    </p:spTree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1140" y="446388"/>
            <a:ext cx="17125720" cy="582312"/>
            <a:chOff x="0" y="0"/>
            <a:chExt cx="4510478" cy="1533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10478" cy="153366"/>
            </a:xfrm>
            <a:custGeom>
              <a:avLst/>
              <a:gdLst/>
              <a:ahLst/>
              <a:cxnLst/>
              <a:rect l="l" t="t" r="r" b="b"/>
              <a:pathLst>
                <a:path w="4510478" h="153366">
                  <a:moveTo>
                    <a:pt x="7233" y="0"/>
                  </a:moveTo>
                  <a:lnTo>
                    <a:pt x="4503245" y="0"/>
                  </a:lnTo>
                  <a:cubicBezTo>
                    <a:pt x="4505163" y="0"/>
                    <a:pt x="4507003" y="762"/>
                    <a:pt x="4508359" y="2119"/>
                  </a:cubicBezTo>
                  <a:cubicBezTo>
                    <a:pt x="4509716" y="3475"/>
                    <a:pt x="4510478" y="5315"/>
                    <a:pt x="4510478" y="7233"/>
                  </a:cubicBezTo>
                  <a:lnTo>
                    <a:pt x="4510478" y="146133"/>
                  </a:lnTo>
                  <a:cubicBezTo>
                    <a:pt x="4510478" y="148051"/>
                    <a:pt x="4509716" y="149891"/>
                    <a:pt x="4508359" y="151248"/>
                  </a:cubicBezTo>
                  <a:cubicBezTo>
                    <a:pt x="4507003" y="152604"/>
                    <a:pt x="4505163" y="153366"/>
                    <a:pt x="4503245" y="153366"/>
                  </a:cubicBezTo>
                  <a:lnTo>
                    <a:pt x="7233" y="153366"/>
                  </a:lnTo>
                  <a:cubicBezTo>
                    <a:pt x="5315" y="153366"/>
                    <a:pt x="3475" y="152604"/>
                    <a:pt x="2119" y="151248"/>
                  </a:cubicBezTo>
                  <a:cubicBezTo>
                    <a:pt x="762" y="149891"/>
                    <a:pt x="0" y="148051"/>
                    <a:pt x="0" y="146133"/>
                  </a:cubicBezTo>
                  <a:lnTo>
                    <a:pt x="0" y="7233"/>
                  </a:lnTo>
                  <a:cubicBezTo>
                    <a:pt x="0" y="5315"/>
                    <a:pt x="762" y="3475"/>
                    <a:pt x="2119" y="2119"/>
                  </a:cubicBezTo>
                  <a:cubicBezTo>
                    <a:pt x="3475" y="762"/>
                    <a:pt x="5315" y="0"/>
                    <a:pt x="723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10478" cy="2009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02984" y="9533834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028700" y="565141"/>
            <a:ext cx="717422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23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CAPSTONE 2025 - ADMISSION ANALYTICS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67547" y="1133475"/>
            <a:ext cx="9152907" cy="802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sz="6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Kanban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44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3C45B03D-F539-4AB5-2F48-F2487BA48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91" y="2057254"/>
            <a:ext cx="17212017" cy="6192128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7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3799237" y="1573682"/>
            <a:ext cx="11364875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Demostración</a:t>
            </a:r>
          </a:p>
        </p:txBody>
      </p:sp>
      <p:sp>
        <p:nvSpPr>
          <p:cNvPr id="4" name="Freeform 4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301095" y="8063476"/>
            <a:ext cx="17986905" cy="572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4266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https://capstone-three-rouge.vercel.app/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45</a:t>
            </a:r>
          </a:p>
        </p:txBody>
      </p:sp>
    </p:spTree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46325" y="3049578"/>
            <a:ext cx="3537451" cy="5845422"/>
          </a:xfrm>
          <a:custGeom>
            <a:avLst/>
            <a:gdLst/>
            <a:ahLst/>
            <a:cxnLst/>
            <a:rect l="l" t="t" r="r" b="b"/>
            <a:pathLst>
              <a:path w="3537451" h="5845422">
                <a:moveTo>
                  <a:pt x="0" y="0"/>
                </a:moveTo>
                <a:lnTo>
                  <a:pt x="3537451" y="0"/>
                </a:lnTo>
                <a:lnTo>
                  <a:pt x="3537451" y="5845422"/>
                </a:lnTo>
                <a:lnTo>
                  <a:pt x="0" y="5845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704224" y="3049578"/>
            <a:ext cx="3537451" cy="5845422"/>
          </a:xfrm>
          <a:custGeom>
            <a:avLst/>
            <a:gdLst/>
            <a:ahLst/>
            <a:cxnLst/>
            <a:rect l="l" t="t" r="r" b="b"/>
            <a:pathLst>
              <a:path w="3537451" h="5845422">
                <a:moveTo>
                  <a:pt x="0" y="0"/>
                </a:moveTo>
                <a:lnTo>
                  <a:pt x="3537451" y="0"/>
                </a:lnTo>
                <a:lnTo>
                  <a:pt x="3537451" y="5845422"/>
                </a:lnTo>
                <a:lnTo>
                  <a:pt x="0" y="58454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7375275" y="3049578"/>
            <a:ext cx="3537451" cy="5845422"/>
          </a:xfrm>
          <a:custGeom>
            <a:avLst/>
            <a:gdLst/>
            <a:ahLst/>
            <a:cxnLst/>
            <a:rect l="l" t="t" r="r" b="b"/>
            <a:pathLst>
              <a:path w="3537451" h="5845422">
                <a:moveTo>
                  <a:pt x="0" y="0"/>
                </a:moveTo>
                <a:lnTo>
                  <a:pt x="3537450" y="0"/>
                </a:lnTo>
                <a:lnTo>
                  <a:pt x="3537450" y="5845422"/>
                </a:lnTo>
                <a:lnTo>
                  <a:pt x="0" y="58454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3031557" y="3640710"/>
            <a:ext cx="928382" cy="928382"/>
          </a:xfrm>
          <a:custGeom>
            <a:avLst/>
            <a:gdLst/>
            <a:ahLst/>
            <a:cxnLst/>
            <a:rect l="l" t="t" r="r" b="b"/>
            <a:pathLst>
              <a:path w="928382" h="928382">
                <a:moveTo>
                  <a:pt x="0" y="0"/>
                </a:moveTo>
                <a:lnTo>
                  <a:pt x="928381" y="0"/>
                </a:lnTo>
                <a:lnTo>
                  <a:pt x="928381" y="928382"/>
                </a:lnTo>
                <a:lnTo>
                  <a:pt x="0" y="9283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4051384" y="3194492"/>
            <a:ext cx="1527333" cy="1374600"/>
          </a:xfrm>
          <a:custGeom>
            <a:avLst/>
            <a:gdLst/>
            <a:ahLst/>
            <a:cxnLst/>
            <a:rect l="l" t="t" r="r" b="b"/>
            <a:pathLst>
              <a:path w="1527333" h="1374600">
                <a:moveTo>
                  <a:pt x="0" y="0"/>
                </a:moveTo>
                <a:lnTo>
                  <a:pt x="1527333" y="0"/>
                </a:lnTo>
                <a:lnTo>
                  <a:pt x="1527333" y="1374600"/>
                </a:lnTo>
                <a:lnTo>
                  <a:pt x="0" y="1374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8475360" y="3231812"/>
            <a:ext cx="1337280" cy="1337280"/>
          </a:xfrm>
          <a:custGeom>
            <a:avLst/>
            <a:gdLst/>
            <a:ahLst/>
            <a:cxnLst/>
            <a:rect l="l" t="t" r="r" b="b"/>
            <a:pathLst>
              <a:path w="1337280" h="1337280">
                <a:moveTo>
                  <a:pt x="0" y="0"/>
                </a:moveTo>
                <a:lnTo>
                  <a:pt x="1337280" y="0"/>
                </a:lnTo>
                <a:lnTo>
                  <a:pt x="1337280" y="1337280"/>
                </a:lnTo>
                <a:lnTo>
                  <a:pt x="0" y="13372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2321271" y="721514"/>
            <a:ext cx="13645457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CONCLUSIONES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49821" y="5085000"/>
            <a:ext cx="3491854" cy="2388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spcBef>
                <a:spcPct val="0"/>
              </a:spcBef>
            </a:pPr>
            <a:r>
              <a:rPr lang="en-US" sz="1969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El aprendizaje de Duoc a través de los años, nos a permitido llegar a este punto. Este capstone usa distintas herramientas y aprendizajes de muchas áreas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75275" y="4742820"/>
            <a:ext cx="3537451" cy="246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 importancia de que los gráficos sean explicativos radica en su capacidad para transformar datos complejos en información comprensible y significativa.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284" y="4944326"/>
            <a:ext cx="3429534" cy="2464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 importancia de cada paso, desde la consolidación del modelo de datos, hasta la construcción de visualizaciones útiles para la admisión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Box 13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46</a:t>
            </a:r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BF8B16">
                <a:alpha val="100000"/>
              </a:srgbClr>
            </a:gs>
          </a:gsLst>
          <a:lin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7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0" y="1596969"/>
            <a:ext cx="18288000" cy="1661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48"/>
              </a:lnSpc>
            </a:pPr>
            <a:r>
              <a:rPr lang="en-US" sz="12424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MUCHAS GRACIAS</a:t>
            </a:r>
          </a:p>
        </p:txBody>
      </p:sp>
      <p:sp>
        <p:nvSpPr>
          <p:cNvPr id="4" name="Freeform 4"/>
          <p:cNvSpPr/>
          <p:nvPr/>
        </p:nvSpPr>
        <p:spPr>
          <a:xfrm>
            <a:off x="14815051" y="9258300"/>
            <a:ext cx="3385016" cy="753166"/>
          </a:xfrm>
          <a:custGeom>
            <a:avLst/>
            <a:gdLst/>
            <a:ahLst/>
            <a:cxnLst/>
            <a:rect l="l" t="t" r="r" b="b"/>
            <a:pathLst>
              <a:path w="3385016" h="753166">
                <a:moveTo>
                  <a:pt x="0" y="0"/>
                </a:moveTo>
                <a:lnTo>
                  <a:pt x="3385016" y="0"/>
                </a:lnTo>
                <a:lnTo>
                  <a:pt x="3385016" y="753166"/>
                </a:lnTo>
                <a:lnTo>
                  <a:pt x="0" y="7531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323141" y="9414658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6294"/>
              </a:lnSpc>
              <a:spcBef>
                <a:spcPct val="0"/>
              </a:spcBef>
            </a:pPr>
            <a:r>
              <a:rPr lang="en-US" sz="449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47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1187</Words>
  <Application>Microsoft Office PowerPoint</Application>
  <PresentationFormat>Personalizado</PresentationFormat>
  <Paragraphs>286</Paragraphs>
  <Slides>47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47</vt:i4>
      </vt:variant>
    </vt:vector>
  </HeadingPairs>
  <TitlesOfParts>
    <vt:vector size="54" baseType="lpstr">
      <vt:lpstr>Open Sauce</vt:lpstr>
      <vt:lpstr>Calibri</vt:lpstr>
      <vt:lpstr>Arial</vt:lpstr>
      <vt:lpstr>Open Sans Bold</vt:lpstr>
      <vt:lpstr>Open Sans</vt:lpstr>
      <vt:lpstr>Open Sauce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</dc:title>
  <dc:creator>Antonio Vega Vega</dc:creator>
  <cp:lastModifiedBy>ANTONIO IGNACIO YURI VEGA VEGA</cp:lastModifiedBy>
  <cp:revision>2</cp:revision>
  <dcterms:created xsi:type="dcterms:W3CDTF">2006-08-16T00:00:00Z</dcterms:created>
  <dcterms:modified xsi:type="dcterms:W3CDTF">2025-11-21T21:44:45Z</dcterms:modified>
  <dc:identifier>DAG5W--nyjM</dc:identifier>
</cp:coreProperties>
</file>